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6" r:id="rId2"/>
    <p:sldId id="286" r:id="rId3"/>
    <p:sldId id="274" r:id="rId4"/>
    <p:sldId id="352" r:id="rId5"/>
    <p:sldId id="261" r:id="rId6"/>
    <p:sldId id="260" r:id="rId7"/>
    <p:sldId id="26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72"/>
  </p:normalViewPr>
  <p:slideViewPr>
    <p:cSldViewPr snapToGrid="0">
      <p:cViewPr varScale="1">
        <p:scale>
          <a:sx n="82" d="100"/>
          <a:sy n="82" d="100"/>
        </p:scale>
        <p:origin x="148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7DD9C-A194-F24E-892D-E5DA68D8DA70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6986F-02BD-F642-A015-15499C31B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4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55935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27BD-350E-414A-4BFC-18EC6EBD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643BB8-89F1-420F-BD70-8DF059BC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8B44A44-7632-FDF7-8C06-19CCABDD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D5B3D2-651B-E61E-23C4-F16F98EFA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774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D2248-93D7-555A-8412-49B2AAE05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15EADC-8D39-EB32-4C2E-0CF4BBA5D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0BC561-ABED-A166-725B-AD68BF3C2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06F860-BD22-2885-5A38-D73AA3749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F9C5C0-44E4-45D5-624A-E2E163F4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AB220-15B6-50B7-9660-1CE1FF74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5FBAC0-ECAE-E139-B0D6-E98D3AD87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01FD59-7280-1572-26F5-67FA0763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B82CAB-56EB-43FD-41F6-D1C9C6B0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9C3944-0A50-BC51-961A-B439E06B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8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39E76-6E05-1198-AD38-6592E0BA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AC5C9E-9C2A-8F05-48D2-50755E34F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DBFAD9-F0AE-9ED7-C0DE-C13EDF2F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B4C0E7-2CED-8B18-C4CC-9C5681B9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2CAD81-C17F-28C7-3694-70C8E96D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47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997FE-61A9-9669-9984-13C845E6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BE8A3E-BA20-5BEC-CE51-FEDAE514A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5B1A9F-3147-8312-E008-A6930461A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F218FE-4ACD-9B22-6665-F307F7A0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BBC6D8-41A8-8717-D80A-DF1BCA0F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5B3A0A-E15D-08EB-16C0-CE2D7D60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0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E1E0C-3B79-11FB-7AA4-BE85BCD8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DF6448-B56D-0674-169D-4B2014935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3EF323-11DC-3EDE-3C02-5F3F405FF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BECF08-C526-B598-9CA0-1713D7378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B98AB3-517D-8152-9276-A5E454EBF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0154513-2421-A2BF-3D1D-37A3D820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BFE591-0887-B344-DF16-B27ABB98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5AF1DB-B4B8-2AAE-2E19-9AB7883E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94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3ABF9-E104-F86D-B134-DF2B3388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3A638B-5B7A-05F0-CD7B-34EDFA1D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59DCF4-D325-AD74-2132-3A95CAA1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592568-10A6-D6FF-E53D-3643BD8A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4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F762E3-B7BE-4DA8-B86D-D1D07254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7218FF-1A4F-A0FF-159E-74E5EC3B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B0E9E9-D8C6-7DF3-A413-17D8118D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3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43203-B0D8-7AF2-E78A-A2C6E0BA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1B56B3-6326-28FD-BAAC-49DEEDB78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606ECD-A214-AD59-1C46-4523AD5FE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9D4E6D-8870-C332-5E9C-7CC08E2B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1F1079-7DCA-0A1A-AEBA-486E4B6F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6C5D4D-E6AB-652B-018E-914BDF87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31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EAB7CA-A7DB-2100-C39D-7BBA95EB2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0AA50A5-C96C-117A-7BFC-2B409CDED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BA53BE-5221-1816-ED76-8CCDA72C7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8C5ABA-A283-DA78-F463-3423C1D3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E46C76-C928-2267-70A2-0E4A78D8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4918AF-BB53-EF3A-DECA-BA744594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4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D3BE8-669F-359E-AF14-9E3E7452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B3C358-6FBF-7EC0-9597-48376AF56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61FE90-0ED5-3314-1373-CFD94919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AA3854-1D31-6128-64A5-BB3090A8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2ACA1-B45D-09ED-74E2-A71C636C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91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1B5064-7913-94DF-5BE9-66EEBF2C9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089CB2-167E-7256-237D-72F461086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31CA7F-99A7-A3AA-C715-67F77332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6317C-97CB-35CE-E8F3-3B82413D3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8BE7FE-6A73-2CCA-6596-604399ED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51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40C05A-15EA-C445-1C82-B492C924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DAA2A0-9469-2168-AEED-D74469622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511900-4402-93F3-FC90-B28A6305F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5DE85-FB75-4D41-AC8D-4D5E20C6B8AB}" type="datetimeFigureOut">
              <a:rPr lang="de-DE" smtClean="0"/>
              <a:t>30.10.25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D7815C-A42B-94AB-A28A-124DC8F6B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6F3E66-9D82-5938-B73B-766421775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85F9C-0B98-D346-8793-3DAD9E950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89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35B9D-19C1-6FF7-B4E4-887745E0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4000" dirty="0"/>
              <a:t>Codierung vs. Verschlüsselung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E12A69B-C3DD-7629-9877-A48C8CE3F7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93140" y="1856905"/>
          <a:ext cx="10405720" cy="415164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909720">
                  <a:extLst>
                    <a:ext uri="{9D8B030D-6E8A-4147-A177-3AD203B41FA5}">
                      <a16:colId xmlns:a16="http://schemas.microsoft.com/office/drawing/2014/main" val="2886950908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507609632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908139062"/>
                    </a:ext>
                  </a:extLst>
                </a:gridCol>
              </a:tblGrid>
              <a:tr h="497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Aspekt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Codierung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Verschlüsselung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09347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Zweck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Darstellung / Übertragung / Speicherung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Geheimhaltung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17088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Für alle lesbar?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Ja </a:t>
                      </a:r>
                      <a:br>
                        <a:rPr lang="de-CH" dirty="0"/>
                      </a:br>
                      <a:r>
                        <a:rPr lang="de-CH" dirty="0"/>
                        <a:t>(für Computer und Nerds)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Nein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225651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Schlüssel nötig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Nein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Ja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488826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Rückwandlung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Für alle mit Kenntnis der Codierung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Nur mit Schlüssel möglich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686693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Beispiel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/>
                        <a:t>ASCII, UTF-8, Morse, QR-Code, RGB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dirty="0" err="1"/>
                        <a:t>Skytale</a:t>
                      </a:r>
                      <a:r>
                        <a:rPr lang="de-CH" dirty="0"/>
                        <a:t>, Caesar, </a:t>
                      </a:r>
                      <a:r>
                        <a:rPr lang="de-CH" dirty="0" err="1"/>
                        <a:t>Vigenère</a:t>
                      </a:r>
                      <a:r>
                        <a:rPr lang="de-CH" dirty="0"/>
                        <a:t>, AES, RSA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28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48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1A1D-E1B3-CDD5-760E-692FCEF8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D96A7-4FAC-2847-7CFF-C9942584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000" dirty="0"/>
              <a:t>Kerckhoffs 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D87563-C797-DA7C-18F8-25FC78A67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„Die Sicherheit eines kryptographischen Verfahrens soll nur von der </a:t>
            </a:r>
            <a:r>
              <a:rPr lang="de-DE" b="1" dirty="0"/>
              <a:t>Geheimhaltung</a:t>
            </a:r>
            <a:r>
              <a:rPr lang="de-DE" dirty="0"/>
              <a:t> </a:t>
            </a:r>
            <a:r>
              <a:rPr lang="de-DE" b="1" dirty="0"/>
              <a:t>des Schlüssels </a:t>
            </a:r>
            <a:r>
              <a:rPr lang="de-DE" dirty="0"/>
              <a:t>und nicht von der des Verfahrens abhängen.“</a:t>
            </a:r>
          </a:p>
          <a:p>
            <a:pPr marL="457200" lvl="1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DE" b="1" dirty="0"/>
              <a:t>Schlussfolgerung: </a:t>
            </a:r>
            <a:br>
              <a:rPr lang="de-DE" dirty="0"/>
            </a:br>
            <a:r>
              <a:rPr lang="de-DE" dirty="0"/>
              <a:t>Neue Verschlüsselungsverfahren können bedenkenlos veröffentlicht und von Experten auf seine Tauglichkeit untersucht werden. </a:t>
            </a:r>
          </a:p>
        </p:txBody>
      </p:sp>
    </p:spTree>
    <p:extLst>
      <p:ext uri="{BB962C8B-B14F-4D97-AF65-F5344CB8AC3E}">
        <p14:creationId xmlns:p14="http://schemas.microsoft.com/office/powerpoint/2010/main" val="253153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646D4-7AE6-6BE7-1B14-7AE6B75CF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2922"/>
            <a:ext cx="10703943" cy="4047049"/>
          </a:xfrm>
        </p:spPr>
        <p:txBody>
          <a:bodyPr>
            <a:normAutofit/>
          </a:bodyPr>
          <a:lstStyle/>
          <a:p>
            <a:endParaRPr lang="de-DE" sz="2600" dirty="0"/>
          </a:p>
          <a:p>
            <a:r>
              <a:rPr lang="de-DE" sz="2600" dirty="0"/>
              <a:t>Welche Daten und Informationen sind für euch besonders </a:t>
            </a:r>
            <a:r>
              <a:rPr lang="de-DE" sz="2600" b="1" dirty="0"/>
              <a:t>wertvoll</a:t>
            </a:r>
            <a:r>
              <a:rPr lang="de-DE" sz="2600" dirty="0"/>
              <a:t>?</a:t>
            </a:r>
          </a:p>
          <a:p>
            <a:pPr marL="457200" lvl="1" indent="0">
              <a:buNone/>
            </a:pPr>
            <a:r>
              <a:rPr lang="de-DE" sz="2200" dirty="0">
                <a:solidFill>
                  <a:schemeClr val="accent1"/>
                </a:solidFill>
              </a:rPr>
              <a:t>Fotos, Nachrichten, Bankkonto Anmeldedaten, …</a:t>
            </a:r>
          </a:p>
          <a:p>
            <a:pPr marL="457200" lvl="1" indent="0">
              <a:buNone/>
            </a:pPr>
            <a:endParaRPr lang="de-DE" sz="2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br>
              <a:rPr lang="de-DE" sz="2600" dirty="0"/>
            </a:br>
            <a:endParaRPr lang="de-DE" sz="2600" u="sng" dirty="0"/>
          </a:p>
        </p:txBody>
      </p:sp>
      <p:pic>
        <p:nvPicPr>
          <p:cNvPr id="1028" name="Picture 4" descr="Handy verloren: So handelst du bei ...">
            <a:extLst>
              <a:ext uri="{FF2B5EF4-FFF2-40B4-BE49-F238E27FC236}">
                <a16:creationId xmlns:a16="http://schemas.microsoft.com/office/drawing/2014/main" id="{F3D13DB0-0DB4-7869-36AB-573ACFAC0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896" y="551241"/>
            <a:ext cx="2384306" cy="155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A22026F1-EF38-B64B-2BD3-734E5F95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207"/>
            <a:ext cx="7727830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Stellt euch vor</a:t>
            </a:r>
            <a:r>
              <a:rPr lang="de-DE" sz="4000" dirty="0"/>
              <a:t>: Euer Handy geht </a:t>
            </a:r>
            <a:br>
              <a:rPr lang="de-DE" sz="4000" dirty="0"/>
            </a:br>
            <a:r>
              <a:rPr lang="de-DE" sz="4000" dirty="0"/>
              <a:t>verloren oder wird gehackt.</a:t>
            </a:r>
            <a:endParaRPr lang="de-CH" sz="4000" dirty="0"/>
          </a:p>
        </p:txBody>
      </p:sp>
    </p:spTree>
    <p:extLst>
      <p:ext uri="{BB962C8B-B14F-4D97-AF65-F5344CB8AC3E}">
        <p14:creationId xmlns:p14="http://schemas.microsoft.com/office/powerpoint/2010/main" val="19676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FD6E-82E7-DF87-ED9D-D1C5486E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2270EB55-F1CE-ADE1-A566-A0BAD49BC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22" b="83460"/>
          <a:stretch>
            <a:fillRect/>
          </a:stretch>
        </p:blipFill>
        <p:spPr>
          <a:xfrm>
            <a:off x="4416087" y="1134000"/>
            <a:ext cx="3338952" cy="11343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7FFA7A-491D-79B5-7CB6-30C31987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03516"/>
            <a:ext cx="10515600" cy="1325563"/>
          </a:xfrm>
        </p:spPr>
        <p:txBody>
          <a:bodyPr>
            <a:normAutofit/>
          </a:bodyPr>
          <a:lstStyle/>
          <a:p>
            <a:r>
              <a:rPr lang="de-CH" sz="4000" dirty="0">
                <a:solidFill>
                  <a:schemeClr val="bg1"/>
                </a:solidFill>
              </a:rPr>
              <a:t>Wir leben im «Informationszeitalter»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EF8634B-DC02-36DD-83FB-97A58B605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546" r="-757" b="66751"/>
          <a:stretch>
            <a:fillRect/>
          </a:stretch>
        </p:blipFill>
        <p:spPr>
          <a:xfrm>
            <a:off x="4416086" y="2268747"/>
            <a:ext cx="3385251" cy="114546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6F981BD-623B-2E8F-EA76-1EE9F9A9F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3034" r="-1101" b="50431"/>
          <a:stretch>
            <a:fillRect/>
          </a:stretch>
        </p:blipFill>
        <p:spPr>
          <a:xfrm>
            <a:off x="4416086" y="3399367"/>
            <a:ext cx="3396825" cy="1134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FF8D9D-373D-6BA5-B574-E8F65AA04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68" b="33580"/>
          <a:stretch>
            <a:fillRect/>
          </a:stretch>
        </p:blipFill>
        <p:spPr>
          <a:xfrm>
            <a:off x="4416086" y="4540250"/>
            <a:ext cx="3359827" cy="11488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E90103-0EEF-EFD8-4647-D58EFFE6E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45"/>
          <a:stretch>
            <a:fillRect/>
          </a:stretch>
        </p:blipFill>
        <p:spPr>
          <a:xfrm>
            <a:off x="4416086" y="5684808"/>
            <a:ext cx="3359827" cy="115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0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C4832-1424-1F25-7303-9EA65791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Schutzziele der </a:t>
            </a:r>
            <a:r>
              <a:rPr lang="de-CH" sz="4000" dirty="0"/>
              <a:t>Informationssicherheit</a:t>
            </a:r>
            <a:r>
              <a:rPr lang="de-DE" sz="4000" dirty="0"/>
              <a:t> </a:t>
            </a:r>
            <a:endParaRPr lang="de-CH" sz="4000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D7AB5E1-5185-2CF3-CCA4-3ABB22BC28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855772"/>
          <a:ext cx="10515600" cy="338836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777678">
                  <a:extLst>
                    <a:ext uri="{9D8B030D-6E8A-4147-A177-3AD203B41FA5}">
                      <a16:colId xmlns:a16="http://schemas.microsoft.com/office/drawing/2014/main" val="3824306361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1987077663"/>
                    </a:ext>
                  </a:extLst>
                </a:gridCol>
                <a:gridCol w="2882097">
                  <a:extLst>
                    <a:ext uri="{9D8B030D-6E8A-4147-A177-3AD203B41FA5}">
                      <a16:colId xmlns:a16="http://schemas.microsoft.com/office/drawing/2014/main" val="2467120788"/>
                    </a:ext>
                  </a:extLst>
                </a:gridCol>
                <a:gridCol w="3436716">
                  <a:extLst>
                    <a:ext uri="{9D8B030D-6E8A-4147-A177-3AD203B41FA5}">
                      <a16:colId xmlns:a16="http://schemas.microsoft.com/office/drawing/2014/main" val="2601528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Schutzziel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Typische Massnahmen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Bezug zur Kryptographie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57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Vertraulichkeit</a:t>
                      </a:r>
                    </a:p>
                    <a:p>
                      <a:r>
                        <a:rPr lang="de-CH" b="0" dirty="0"/>
                        <a:t>(</a:t>
                      </a:r>
                      <a:r>
                        <a:rPr lang="de-CH" b="0" dirty="0" err="1"/>
                        <a:t>confidentiality</a:t>
                      </a:r>
                      <a:r>
                        <a:rPr lang="de-CH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Nur Berechtigte dürfen Informationen lesen.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Verschlüsselung,</a:t>
                      </a:r>
                    </a:p>
                    <a:p>
                      <a:r>
                        <a:rPr lang="de-CH" dirty="0"/>
                        <a:t>Zugriffskontrolle,</a:t>
                      </a:r>
                    </a:p>
                    <a:p>
                      <a:r>
                        <a:rPr lang="de-CH" dirty="0"/>
                        <a:t>Berechtigungsverwaltung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Kryptographische Verfahren, die Nachrichten gegen unbefugtes Mitlesen schützen.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73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Integrität</a:t>
                      </a:r>
                    </a:p>
                    <a:p>
                      <a:r>
                        <a:rPr lang="de-CH" b="0" dirty="0"/>
                        <a:t>(</a:t>
                      </a:r>
                      <a:r>
                        <a:rPr lang="de-CH" b="0" dirty="0" err="1"/>
                        <a:t>integrity</a:t>
                      </a:r>
                      <a:r>
                        <a:rPr lang="de-CH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Informationen dürfen nicht unbemerkt verändert werden.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Hashfunktionen,</a:t>
                      </a:r>
                    </a:p>
                    <a:p>
                      <a:r>
                        <a:rPr lang="de-CH" dirty="0"/>
                        <a:t>Digitale Signaturen,</a:t>
                      </a:r>
                    </a:p>
                    <a:p>
                      <a:r>
                        <a:rPr lang="de-CH" dirty="0"/>
                        <a:t>Prüfsummen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Kryptographische Verfahren, die 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</a:rPr>
                        <a:t>sicherstellen, </a:t>
                      </a:r>
                      <a:r>
                        <a:rPr lang="de-DE" dirty="0"/>
                        <a:t>dass Daten unverändert sind.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04485"/>
                  </a:ext>
                </a:extLst>
              </a:tr>
              <a:tr h="353888">
                <a:tc>
                  <a:txBody>
                    <a:bodyPr/>
                    <a:lstStyle/>
                    <a:p>
                      <a:r>
                        <a:rPr lang="de-CH" b="1" dirty="0"/>
                        <a:t>Verfügbarkeit</a:t>
                      </a:r>
                    </a:p>
                    <a:p>
                      <a:r>
                        <a:rPr lang="de-CH" b="0" dirty="0"/>
                        <a:t>(</a:t>
                      </a:r>
                      <a:r>
                        <a:rPr lang="de-CH" b="0" dirty="0" err="1"/>
                        <a:t>availability</a:t>
                      </a:r>
                      <a:r>
                        <a:rPr lang="de-CH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Daten und Systeme sind nutzbar, wenn sie gebraucht werden.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Backups,</a:t>
                      </a:r>
                    </a:p>
                    <a:p>
                      <a:r>
                        <a:rPr lang="de-CH" dirty="0"/>
                        <a:t>Redundanz,</a:t>
                      </a:r>
                    </a:p>
                    <a:p>
                      <a:r>
                        <a:rPr lang="de-CH" dirty="0"/>
                        <a:t>Schutz vor DDoS-Angriffen,</a:t>
                      </a:r>
                    </a:p>
                    <a:p>
                      <a:r>
                        <a:rPr lang="de-CH" dirty="0"/>
                        <a:t>Wartung und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Kryptographie s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</a:rPr>
                        <a:t>pie</a:t>
                      </a:r>
                      <a:r>
                        <a:rPr lang="de-DE" dirty="0"/>
                        <a:t>lt hier keine direkte Rolle. Hier 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</a:rPr>
                        <a:t>ist </a:t>
                      </a:r>
                      <a:r>
                        <a:rPr lang="de-DE" sz="1800" kern="1200" dirty="0" err="1">
                          <a:solidFill>
                            <a:schemeClr val="dk1"/>
                          </a:solidFill>
                        </a:rPr>
                        <a:t>vorallem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</a:rPr>
                        <a:t> IT-Management und Netzwerkschutz gefragt.</a:t>
                      </a:r>
                      <a:endParaRPr lang="de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972856"/>
                  </a:ext>
                </a:extLst>
              </a:tr>
            </a:tbl>
          </a:graphicData>
        </a:graphic>
      </p:graphicFrame>
      <p:pic>
        <p:nvPicPr>
          <p:cNvPr id="6" name="Picture 8" descr="Understanding the CIA Triad: The Foundation of Information ...">
            <a:extLst>
              <a:ext uri="{FF2B5EF4-FFF2-40B4-BE49-F238E27FC236}">
                <a16:creationId xmlns:a16="http://schemas.microsoft.com/office/drawing/2014/main" id="{B78DAFDB-53DC-8822-9B8B-53BD8590E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6" t="24521" r="33444" b="10511"/>
          <a:stretch>
            <a:fillRect/>
          </a:stretch>
        </p:blipFill>
        <p:spPr bwMode="auto">
          <a:xfrm>
            <a:off x="9051403" y="-1"/>
            <a:ext cx="3132753" cy="273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17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B0030-171D-64E6-B3D0-70DF11E2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000" dirty="0"/>
              <a:t>Weitere Schutzziele der Informationssicherheit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2013532-A875-7379-96AA-07AA6AFB24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21132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379562">
                  <a:extLst>
                    <a:ext uri="{9D8B030D-6E8A-4147-A177-3AD203B41FA5}">
                      <a16:colId xmlns:a16="http://schemas.microsoft.com/office/drawing/2014/main" val="3824306361"/>
                    </a:ext>
                  </a:extLst>
                </a:gridCol>
                <a:gridCol w="2199190">
                  <a:extLst>
                    <a:ext uri="{9D8B030D-6E8A-4147-A177-3AD203B41FA5}">
                      <a16:colId xmlns:a16="http://schemas.microsoft.com/office/drawing/2014/main" val="1987077663"/>
                    </a:ext>
                  </a:extLst>
                </a:gridCol>
                <a:gridCol w="2627453">
                  <a:extLst>
                    <a:ext uri="{9D8B030D-6E8A-4147-A177-3AD203B41FA5}">
                      <a16:colId xmlns:a16="http://schemas.microsoft.com/office/drawing/2014/main" val="2467120788"/>
                    </a:ext>
                  </a:extLst>
                </a:gridCol>
                <a:gridCol w="3309395">
                  <a:extLst>
                    <a:ext uri="{9D8B030D-6E8A-4147-A177-3AD203B41FA5}">
                      <a16:colId xmlns:a16="http://schemas.microsoft.com/office/drawing/2014/main" val="2601528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Schutzziel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Typische Massnahmen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Bezug zur Kryptographie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57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Authentizität (Echtheit)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Sicherstellen, dass eine Nachricht, Person oder Quelle echt ist.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Digitale Signaturen,</a:t>
                      </a:r>
                    </a:p>
                    <a:p>
                      <a:r>
                        <a:rPr lang="de-CH" dirty="0"/>
                        <a:t>Zertifikate,</a:t>
                      </a:r>
                    </a:p>
                    <a:p>
                      <a:r>
                        <a:rPr lang="de-CH" dirty="0"/>
                        <a:t>Public Key Infrastructure (PKI)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Digitale Signaturen und Zertifikate basieren auf asymmetrischer Kryptographie.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73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Nachvollziehbarkeit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Handlungen und Zugriffe müssen einer Person oder Instanz zugeordnet werden können.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Digitale Signaturen,</a:t>
                      </a:r>
                    </a:p>
                    <a:p>
                      <a:r>
                        <a:rPr lang="de-CH" dirty="0"/>
                        <a:t>Zugriffskontrolle,</a:t>
                      </a:r>
                    </a:p>
                    <a:p>
                      <a:r>
                        <a:rPr lang="de-CH" dirty="0" err="1"/>
                        <a:t>Logging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Digitale Signaturen helfen, Handlungen eindeutig einer Person zuzuordnen.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104485"/>
                  </a:ext>
                </a:extLst>
              </a:tr>
              <a:tr h="353888">
                <a:tc>
                  <a:txBody>
                    <a:bodyPr/>
                    <a:lstStyle/>
                    <a:p>
                      <a:r>
                        <a:rPr lang="de-CH" b="1" dirty="0" err="1"/>
                        <a:t>Nichtabstreitbarkeit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Der Absender kann nicht bestreiten, eine Nachricht gesendet zu haben.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Digitale Signaturen,</a:t>
                      </a:r>
                    </a:p>
                    <a:p>
                      <a:r>
                        <a:rPr lang="de-CH" dirty="0"/>
                        <a:t>Zeitstempel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Digitale Signaturen sind dafür geschaffen, dass ein Absender seine eigene Nachricht nicht leugnen kann.</a:t>
                      </a:r>
                      <a:endParaRPr lang="de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97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4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BF41F-91D3-019A-24A9-F9519181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ED1711-B7F1-5C47-CE9A-9AEB2A604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https://secumantra.com/the-cia-triad/</a:t>
            </a:r>
          </a:p>
        </p:txBody>
      </p:sp>
    </p:spTree>
    <p:extLst>
      <p:ext uri="{BB962C8B-B14F-4D97-AF65-F5344CB8AC3E}">
        <p14:creationId xmlns:p14="http://schemas.microsoft.com/office/powerpoint/2010/main" val="386950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Macintosh PowerPoint</Application>
  <PresentationFormat>Breitbild</PresentationFormat>
  <Paragraphs>83</Paragraphs>
  <Slides>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Codierung vs. Verschlüsselung</vt:lpstr>
      <vt:lpstr>Kerckhoffs Prinzip</vt:lpstr>
      <vt:lpstr>Stellt euch vor: Euer Handy geht  verloren oder wird gehackt.</vt:lpstr>
      <vt:lpstr>Wir leben im «Informationszeitalter»</vt:lpstr>
      <vt:lpstr>Schutzziele der Informationssicherheit </vt:lpstr>
      <vt:lpstr>Weitere Schutzziele der Informationssicherheit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Bosshard, Robin</dc:creator>
  <cp:lastModifiedBy>Bosshard, Robin</cp:lastModifiedBy>
  <cp:revision>2</cp:revision>
  <dcterms:created xsi:type="dcterms:W3CDTF">2025-10-29T12:25:30Z</dcterms:created>
  <dcterms:modified xsi:type="dcterms:W3CDTF">2025-10-30T18:06:55Z</dcterms:modified>
</cp:coreProperties>
</file>