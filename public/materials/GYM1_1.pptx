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350" r:id="rId2"/>
    <p:sldId id="258" r:id="rId3"/>
    <p:sldId id="365" r:id="rId4"/>
    <p:sldId id="368" r:id="rId5"/>
    <p:sldId id="366" r:id="rId6"/>
    <p:sldId id="367" r:id="rId7"/>
    <p:sldId id="370" r:id="rId8"/>
    <p:sldId id="262" r:id="rId9"/>
    <p:sldId id="354" r:id="rId10"/>
    <p:sldId id="268" r:id="rId11"/>
    <p:sldId id="285" r:id="rId12"/>
    <p:sldId id="265" r:id="rId13"/>
    <p:sldId id="290" r:id="rId14"/>
    <p:sldId id="348" r:id="rId15"/>
    <p:sldId id="355" r:id="rId16"/>
    <p:sldId id="358" r:id="rId17"/>
    <p:sldId id="357" r:id="rId18"/>
    <p:sldId id="345" r:id="rId19"/>
    <p:sldId id="356" r:id="rId20"/>
    <p:sldId id="284" r:id="rId21"/>
    <p:sldId id="359" r:id="rId22"/>
    <p:sldId id="293" r:id="rId23"/>
    <p:sldId id="288" r:id="rId24"/>
    <p:sldId id="282" r:id="rId25"/>
    <p:sldId id="289" r:id="rId26"/>
    <p:sldId id="292" r:id="rId27"/>
    <p:sldId id="296" r:id="rId28"/>
    <p:sldId id="297" r:id="rId29"/>
    <p:sldId id="298" r:id="rId30"/>
    <p:sldId id="303" r:id="rId31"/>
    <p:sldId id="305" r:id="rId32"/>
    <p:sldId id="304" r:id="rId33"/>
    <p:sldId id="313" r:id="rId34"/>
    <p:sldId id="306" r:id="rId35"/>
    <p:sldId id="314" r:id="rId36"/>
    <p:sldId id="307" r:id="rId37"/>
    <p:sldId id="315" r:id="rId38"/>
    <p:sldId id="308" r:id="rId39"/>
    <p:sldId id="309" r:id="rId40"/>
    <p:sldId id="318" r:id="rId41"/>
    <p:sldId id="316" r:id="rId42"/>
    <p:sldId id="311" r:id="rId43"/>
    <p:sldId id="312" r:id="rId44"/>
    <p:sldId id="321" r:id="rId45"/>
    <p:sldId id="323" r:id="rId46"/>
    <p:sldId id="320" r:id="rId47"/>
    <p:sldId id="322" r:id="rId48"/>
    <p:sldId id="324" r:id="rId49"/>
    <p:sldId id="325" r:id="rId50"/>
    <p:sldId id="327" r:id="rId51"/>
    <p:sldId id="329" r:id="rId52"/>
    <p:sldId id="326" r:id="rId53"/>
    <p:sldId id="335" r:id="rId54"/>
    <p:sldId id="336" r:id="rId55"/>
    <p:sldId id="342" r:id="rId56"/>
    <p:sldId id="337" r:id="rId57"/>
    <p:sldId id="338" r:id="rId58"/>
    <p:sldId id="339" r:id="rId59"/>
    <p:sldId id="340" r:id="rId60"/>
    <p:sldId id="341" r:id="rId61"/>
    <p:sldId id="344" r:id="rId62"/>
    <p:sldId id="372" r:id="rId63"/>
    <p:sldId id="362" r:id="rId6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E171933-4619-4E11-9A3F-F7608DF75F80}" styleName="Mittlere Formatvorlage 1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7" autoAdjust="0"/>
    <p:restoredTop sz="95470" autoAdjust="0"/>
  </p:normalViewPr>
  <p:slideViewPr>
    <p:cSldViewPr snapToGrid="0">
      <p:cViewPr varScale="1">
        <p:scale>
          <a:sx n="97" d="100"/>
          <a:sy n="97" d="100"/>
        </p:scale>
        <p:origin x="9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508F3A-A74D-4B42-BDCC-7E5424788BFC}" type="doc">
      <dgm:prSet loTypeId="urn:microsoft.com/office/officeart/2005/8/layout/vList2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BC73062-F89F-4428-A8BD-E1090D538E24}">
      <dgm:prSet custT="1"/>
      <dgm:spPr/>
      <dgm:t>
        <a:bodyPr/>
        <a:lstStyle/>
        <a:p>
          <a:r>
            <a:rPr lang="de-CH" sz="2100" dirty="0"/>
            <a:t>Studium PH Bern «Lehrdiplom für Maturitätsschulen»</a:t>
          </a:r>
          <a:endParaRPr lang="en-US" sz="2100" dirty="0"/>
        </a:p>
      </dgm:t>
    </dgm:pt>
    <dgm:pt modelId="{3E1E665B-8A98-476D-9EC9-CB234D1497D4}" type="parTrans" cxnId="{18C91B66-99FB-4AA9-A61C-F942E48DE14A}">
      <dgm:prSet/>
      <dgm:spPr/>
      <dgm:t>
        <a:bodyPr/>
        <a:lstStyle/>
        <a:p>
          <a:endParaRPr lang="en-US" sz="2000"/>
        </a:p>
      </dgm:t>
    </dgm:pt>
    <dgm:pt modelId="{7C705BC7-DC22-4836-864E-D25C3220E621}" type="sibTrans" cxnId="{18C91B66-99FB-4AA9-A61C-F942E48DE14A}">
      <dgm:prSet/>
      <dgm:spPr/>
      <dgm:t>
        <a:bodyPr/>
        <a:lstStyle/>
        <a:p>
          <a:endParaRPr lang="en-US" sz="2000"/>
        </a:p>
      </dgm:t>
    </dgm:pt>
    <dgm:pt modelId="{B7CF3611-6F34-4D95-B47F-8D10487119CC}">
      <dgm:prSet custT="1"/>
      <dgm:spPr/>
      <dgm:t>
        <a:bodyPr/>
        <a:lstStyle/>
        <a:p>
          <a:r>
            <a:rPr lang="de-CH" sz="2100" dirty="0"/>
            <a:t>Praktikum Gymnasium Burgdorf</a:t>
          </a:r>
          <a:endParaRPr lang="en-US" sz="2100" dirty="0"/>
        </a:p>
      </dgm:t>
    </dgm:pt>
    <dgm:pt modelId="{94A09632-A399-477D-A154-F0D3BEAC1782}" type="parTrans" cxnId="{1C29CC7F-9874-42EF-ABBA-5B7FB5DA9E66}">
      <dgm:prSet/>
      <dgm:spPr/>
      <dgm:t>
        <a:bodyPr/>
        <a:lstStyle/>
        <a:p>
          <a:endParaRPr lang="en-US" sz="2000"/>
        </a:p>
      </dgm:t>
    </dgm:pt>
    <dgm:pt modelId="{8F545EC1-1BFC-4740-8BCE-810EDAF5EF13}" type="sibTrans" cxnId="{1C29CC7F-9874-42EF-ABBA-5B7FB5DA9E66}">
      <dgm:prSet/>
      <dgm:spPr/>
      <dgm:t>
        <a:bodyPr/>
        <a:lstStyle/>
        <a:p>
          <a:endParaRPr lang="en-US" sz="2000"/>
        </a:p>
      </dgm:t>
    </dgm:pt>
    <dgm:pt modelId="{42C279AF-5D32-4FEB-8CB3-9659E62C6ECC}">
      <dgm:prSet custT="1"/>
      <dgm:spPr/>
      <dgm:t>
        <a:bodyPr/>
        <a:lstStyle/>
        <a:p>
          <a:r>
            <a:rPr lang="de-CH" sz="2100" dirty="0"/>
            <a:t>4 Wochen Unterricht mit euch</a:t>
          </a:r>
          <a:endParaRPr lang="en-US" sz="2100" dirty="0"/>
        </a:p>
      </dgm:t>
    </dgm:pt>
    <dgm:pt modelId="{8AE5EB12-0CF8-464D-8ADB-7177E7316149}" type="parTrans" cxnId="{1FEB277F-FF20-49E0-8B4F-70144BF3718C}">
      <dgm:prSet/>
      <dgm:spPr/>
      <dgm:t>
        <a:bodyPr/>
        <a:lstStyle/>
        <a:p>
          <a:endParaRPr lang="en-US" sz="2000"/>
        </a:p>
      </dgm:t>
    </dgm:pt>
    <dgm:pt modelId="{1F55B443-A1A7-4303-ABDB-EDC807882578}" type="sibTrans" cxnId="{1FEB277F-FF20-49E0-8B4F-70144BF3718C}">
      <dgm:prSet/>
      <dgm:spPr/>
      <dgm:t>
        <a:bodyPr/>
        <a:lstStyle/>
        <a:p>
          <a:endParaRPr lang="en-US" sz="2000"/>
        </a:p>
      </dgm:t>
    </dgm:pt>
    <dgm:pt modelId="{9F7B9E9C-B043-426D-B047-2EB2A49FE03D}">
      <dgm:prSet custT="1"/>
      <dgm:spPr/>
      <dgm:t>
        <a:bodyPr/>
        <a:lstStyle/>
        <a:p>
          <a:r>
            <a:rPr lang="de-CH" sz="2100" dirty="0"/>
            <a:t>Thema: Kryptographie &amp; Verschlüsselung</a:t>
          </a:r>
          <a:endParaRPr lang="en-US" sz="2100" dirty="0"/>
        </a:p>
      </dgm:t>
    </dgm:pt>
    <dgm:pt modelId="{4B100ACD-66C9-41FC-BC68-A3ECE847D21B}" type="parTrans" cxnId="{8A5BAA59-7A1C-4CD3-A946-19A6511D5668}">
      <dgm:prSet/>
      <dgm:spPr/>
      <dgm:t>
        <a:bodyPr/>
        <a:lstStyle/>
        <a:p>
          <a:endParaRPr lang="de-CH"/>
        </a:p>
      </dgm:t>
    </dgm:pt>
    <dgm:pt modelId="{4269B1D7-FF10-467D-977D-00822FECE4A0}" type="sibTrans" cxnId="{8A5BAA59-7A1C-4CD3-A946-19A6511D5668}">
      <dgm:prSet/>
      <dgm:spPr/>
      <dgm:t>
        <a:bodyPr/>
        <a:lstStyle/>
        <a:p>
          <a:endParaRPr lang="de-CH"/>
        </a:p>
      </dgm:t>
    </dgm:pt>
    <dgm:pt modelId="{5C2BB1A0-B5BF-4DBF-9DE0-DB11EB7E75FA}" type="pres">
      <dgm:prSet presAssocID="{DD508F3A-A74D-4B42-BDCC-7E5424788BFC}" presName="linear" presStyleCnt="0">
        <dgm:presLayoutVars>
          <dgm:animLvl val="lvl"/>
          <dgm:resizeHandles val="exact"/>
        </dgm:presLayoutVars>
      </dgm:prSet>
      <dgm:spPr/>
    </dgm:pt>
    <dgm:pt modelId="{ABB918EF-574E-449E-8CE9-2612474D57AA}" type="pres">
      <dgm:prSet presAssocID="{3BC73062-F89F-4428-A8BD-E1090D538E24}" presName="parentText" presStyleLbl="node1" presStyleIdx="0" presStyleCnt="4" custScaleY="92767" custLinFactNeighborX="-4211">
        <dgm:presLayoutVars>
          <dgm:chMax val="0"/>
          <dgm:bulletEnabled val="1"/>
        </dgm:presLayoutVars>
      </dgm:prSet>
      <dgm:spPr/>
    </dgm:pt>
    <dgm:pt modelId="{4D142391-DE1B-4AC3-AF66-77215A44D095}" type="pres">
      <dgm:prSet presAssocID="{7C705BC7-DC22-4836-864E-D25C3220E621}" presName="spacer" presStyleCnt="0"/>
      <dgm:spPr/>
    </dgm:pt>
    <dgm:pt modelId="{A64A3901-1DF8-432C-ACBA-6EFE4862CCBB}" type="pres">
      <dgm:prSet presAssocID="{B7CF3611-6F34-4D95-B47F-8D10487119CC}" presName="parentText" presStyleLbl="node1" presStyleIdx="1" presStyleCnt="4" custScaleY="92767" custLinFactNeighborX="-4211">
        <dgm:presLayoutVars>
          <dgm:chMax val="0"/>
          <dgm:bulletEnabled val="1"/>
        </dgm:presLayoutVars>
      </dgm:prSet>
      <dgm:spPr/>
    </dgm:pt>
    <dgm:pt modelId="{8EF11BB3-21C9-423E-A03C-4178D9BD9324}" type="pres">
      <dgm:prSet presAssocID="{8F545EC1-1BFC-4740-8BCE-810EDAF5EF13}" presName="spacer" presStyleCnt="0"/>
      <dgm:spPr/>
    </dgm:pt>
    <dgm:pt modelId="{42C2832E-64F4-49D8-96B1-DF5057A18399}" type="pres">
      <dgm:prSet presAssocID="{42C279AF-5D32-4FEB-8CB3-9659E62C6ECC}" presName="parentText" presStyleLbl="node1" presStyleIdx="2" presStyleCnt="4" custScaleY="92767" custLinFactNeighborX="-4211">
        <dgm:presLayoutVars>
          <dgm:chMax val="0"/>
          <dgm:bulletEnabled val="1"/>
        </dgm:presLayoutVars>
      </dgm:prSet>
      <dgm:spPr/>
    </dgm:pt>
    <dgm:pt modelId="{9D4E6226-CE0B-4F69-8FEE-D2DC1801E771}" type="pres">
      <dgm:prSet presAssocID="{1F55B443-A1A7-4303-ABDB-EDC807882578}" presName="spacer" presStyleCnt="0"/>
      <dgm:spPr/>
    </dgm:pt>
    <dgm:pt modelId="{5C131ECA-4B0E-485A-B5E6-412A443B9945}" type="pres">
      <dgm:prSet presAssocID="{9F7B9E9C-B043-426D-B047-2EB2A49FE03D}" presName="parentText" presStyleLbl="node1" presStyleIdx="3" presStyleCnt="4" custScaleY="92767" custLinFactNeighborX="-4211">
        <dgm:presLayoutVars>
          <dgm:chMax val="0"/>
          <dgm:bulletEnabled val="1"/>
        </dgm:presLayoutVars>
      </dgm:prSet>
      <dgm:spPr/>
    </dgm:pt>
  </dgm:ptLst>
  <dgm:cxnLst>
    <dgm:cxn modelId="{A7A2E50D-65C0-4CEC-AD4E-9E082D2157A6}" type="presOf" srcId="{B7CF3611-6F34-4D95-B47F-8D10487119CC}" destId="{A64A3901-1DF8-432C-ACBA-6EFE4862CCBB}" srcOrd="0" destOrd="0" presId="urn:microsoft.com/office/officeart/2005/8/layout/vList2"/>
    <dgm:cxn modelId="{044C3A4F-7D86-423A-B59E-D527C03755B1}" type="presOf" srcId="{3BC73062-F89F-4428-A8BD-E1090D538E24}" destId="{ABB918EF-574E-449E-8CE9-2612474D57AA}" srcOrd="0" destOrd="0" presId="urn:microsoft.com/office/officeart/2005/8/layout/vList2"/>
    <dgm:cxn modelId="{8A5BAA59-7A1C-4CD3-A946-19A6511D5668}" srcId="{DD508F3A-A74D-4B42-BDCC-7E5424788BFC}" destId="{9F7B9E9C-B043-426D-B047-2EB2A49FE03D}" srcOrd="3" destOrd="0" parTransId="{4B100ACD-66C9-41FC-BC68-A3ECE847D21B}" sibTransId="{4269B1D7-FF10-467D-977D-00822FECE4A0}"/>
    <dgm:cxn modelId="{18C91B66-99FB-4AA9-A61C-F942E48DE14A}" srcId="{DD508F3A-A74D-4B42-BDCC-7E5424788BFC}" destId="{3BC73062-F89F-4428-A8BD-E1090D538E24}" srcOrd="0" destOrd="0" parTransId="{3E1E665B-8A98-476D-9EC9-CB234D1497D4}" sibTransId="{7C705BC7-DC22-4836-864E-D25C3220E621}"/>
    <dgm:cxn modelId="{1FEB277F-FF20-49E0-8B4F-70144BF3718C}" srcId="{DD508F3A-A74D-4B42-BDCC-7E5424788BFC}" destId="{42C279AF-5D32-4FEB-8CB3-9659E62C6ECC}" srcOrd="2" destOrd="0" parTransId="{8AE5EB12-0CF8-464D-8ADB-7177E7316149}" sibTransId="{1F55B443-A1A7-4303-ABDB-EDC807882578}"/>
    <dgm:cxn modelId="{1C29CC7F-9874-42EF-ABBA-5B7FB5DA9E66}" srcId="{DD508F3A-A74D-4B42-BDCC-7E5424788BFC}" destId="{B7CF3611-6F34-4D95-B47F-8D10487119CC}" srcOrd="1" destOrd="0" parTransId="{94A09632-A399-477D-A154-F0D3BEAC1782}" sibTransId="{8F545EC1-1BFC-4740-8BCE-810EDAF5EF13}"/>
    <dgm:cxn modelId="{9E6D519A-F48E-4B6D-AECF-F35B301B4468}" type="presOf" srcId="{DD508F3A-A74D-4B42-BDCC-7E5424788BFC}" destId="{5C2BB1A0-B5BF-4DBF-9DE0-DB11EB7E75FA}" srcOrd="0" destOrd="0" presId="urn:microsoft.com/office/officeart/2005/8/layout/vList2"/>
    <dgm:cxn modelId="{5571E6AC-41C2-42D7-9122-4501112AD96A}" type="presOf" srcId="{42C279AF-5D32-4FEB-8CB3-9659E62C6ECC}" destId="{42C2832E-64F4-49D8-96B1-DF5057A18399}" srcOrd="0" destOrd="0" presId="urn:microsoft.com/office/officeart/2005/8/layout/vList2"/>
    <dgm:cxn modelId="{8AD7F7C3-4238-47F7-A20F-4994F15E3930}" type="presOf" srcId="{9F7B9E9C-B043-426D-B047-2EB2A49FE03D}" destId="{5C131ECA-4B0E-485A-B5E6-412A443B9945}" srcOrd="0" destOrd="0" presId="urn:microsoft.com/office/officeart/2005/8/layout/vList2"/>
    <dgm:cxn modelId="{D3ABADBD-B68C-4674-8A04-BAF4AC59C9BC}" type="presParOf" srcId="{5C2BB1A0-B5BF-4DBF-9DE0-DB11EB7E75FA}" destId="{ABB918EF-574E-449E-8CE9-2612474D57AA}" srcOrd="0" destOrd="0" presId="urn:microsoft.com/office/officeart/2005/8/layout/vList2"/>
    <dgm:cxn modelId="{6CF22818-625F-4A5E-8F09-B96E42337B4F}" type="presParOf" srcId="{5C2BB1A0-B5BF-4DBF-9DE0-DB11EB7E75FA}" destId="{4D142391-DE1B-4AC3-AF66-77215A44D095}" srcOrd="1" destOrd="0" presId="urn:microsoft.com/office/officeart/2005/8/layout/vList2"/>
    <dgm:cxn modelId="{267D2C39-094A-4DA4-A0E9-F990E33DCD97}" type="presParOf" srcId="{5C2BB1A0-B5BF-4DBF-9DE0-DB11EB7E75FA}" destId="{A64A3901-1DF8-432C-ACBA-6EFE4862CCBB}" srcOrd="2" destOrd="0" presId="urn:microsoft.com/office/officeart/2005/8/layout/vList2"/>
    <dgm:cxn modelId="{3E2C64D8-92C7-494F-B03A-E8D2B4F291FE}" type="presParOf" srcId="{5C2BB1A0-B5BF-4DBF-9DE0-DB11EB7E75FA}" destId="{8EF11BB3-21C9-423E-A03C-4178D9BD9324}" srcOrd="3" destOrd="0" presId="urn:microsoft.com/office/officeart/2005/8/layout/vList2"/>
    <dgm:cxn modelId="{30342E19-C2AF-4949-9266-5F195FBEB911}" type="presParOf" srcId="{5C2BB1A0-B5BF-4DBF-9DE0-DB11EB7E75FA}" destId="{42C2832E-64F4-49D8-96B1-DF5057A18399}" srcOrd="4" destOrd="0" presId="urn:microsoft.com/office/officeart/2005/8/layout/vList2"/>
    <dgm:cxn modelId="{FD05B3CE-E09D-413F-A2BB-FA300675AED4}" type="presParOf" srcId="{5C2BB1A0-B5BF-4DBF-9DE0-DB11EB7E75FA}" destId="{9D4E6226-CE0B-4F69-8FEE-D2DC1801E771}" srcOrd="5" destOrd="0" presId="urn:microsoft.com/office/officeart/2005/8/layout/vList2"/>
    <dgm:cxn modelId="{A401A9AA-7765-49AB-85BE-9363801AA990}" type="presParOf" srcId="{5C2BB1A0-B5BF-4DBF-9DE0-DB11EB7E75FA}" destId="{5C131ECA-4B0E-485A-B5E6-412A443B994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918EF-574E-449E-8CE9-2612474D57AA}">
      <dsp:nvSpPr>
        <dsp:cNvPr id="0" name=""/>
        <dsp:cNvSpPr/>
      </dsp:nvSpPr>
      <dsp:spPr>
        <a:xfrm>
          <a:off x="0" y="188582"/>
          <a:ext cx="6666833" cy="112878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100" kern="1200" dirty="0"/>
            <a:t>Studium PH Bern «Lehrdiplom für Maturitätsschulen»</a:t>
          </a:r>
          <a:endParaRPr lang="en-US" sz="2100" kern="1200" dirty="0"/>
        </a:p>
      </dsp:txBody>
      <dsp:txXfrm>
        <a:off x="55103" y="243685"/>
        <a:ext cx="6556627" cy="1018582"/>
      </dsp:txXfrm>
    </dsp:sp>
    <dsp:sp modelId="{A64A3901-1DF8-432C-ACBA-6EFE4862CCBB}">
      <dsp:nvSpPr>
        <dsp:cNvPr id="0" name=""/>
        <dsp:cNvSpPr/>
      </dsp:nvSpPr>
      <dsp:spPr>
        <a:xfrm>
          <a:off x="0" y="1504571"/>
          <a:ext cx="6666833" cy="1128788"/>
        </a:xfrm>
        <a:prstGeom prst="roundRect">
          <a:avLst/>
        </a:prstGeom>
        <a:gradFill rotWithShape="0">
          <a:gsLst>
            <a:gs pos="0">
              <a:schemeClr val="accent4">
                <a:hueOff val="2199979"/>
                <a:satOff val="-9734"/>
                <a:lumOff val="-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199979"/>
                <a:satOff val="-9734"/>
                <a:lumOff val="-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199979"/>
                <a:satOff val="-9734"/>
                <a:lumOff val="-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100" kern="1200" dirty="0"/>
            <a:t>Praktikum Gymnasium Burgdorf</a:t>
          </a:r>
          <a:endParaRPr lang="en-US" sz="2100" kern="1200" dirty="0"/>
        </a:p>
      </dsp:txBody>
      <dsp:txXfrm>
        <a:off x="55103" y="1559674"/>
        <a:ext cx="6556627" cy="1018582"/>
      </dsp:txXfrm>
    </dsp:sp>
    <dsp:sp modelId="{42C2832E-64F4-49D8-96B1-DF5057A18399}">
      <dsp:nvSpPr>
        <dsp:cNvPr id="0" name=""/>
        <dsp:cNvSpPr/>
      </dsp:nvSpPr>
      <dsp:spPr>
        <a:xfrm>
          <a:off x="0" y="2820559"/>
          <a:ext cx="6666833" cy="1128788"/>
        </a:xfrm>
        <a:prstGeom prst="roundRect">
          <a:avLst/>
        </a:prstGeom>
        <a:gradFill rotWithShape="0">
          <a:gsLst>
            <a:gs pos="0">
              <a:schemeClr val="accent4">
                <a:hueOff val="4399958"/>
                <a:satOff val="-19468"/>
                <a:lumOff val="-32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399958"/>
                <a:satOff val="-19468"/>
                <a:lumOff val="-32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399958"/>
                <a:satOff val="-19468"/>
                <a:lumOff val="-32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100" kern="1200" dirty="0"/>
            <a:t>4 Wochen Unterricht mit euch</a:t>
          </a:r>
          <a:endParaRPr lang="en-US" sz="2100" kern="1200" dirty="0"/>
        </a:p>
      </dsp:txBody>
      <dsp:txXfrm>
        <a:off x="55103" y="2875662"/>
        <a:ext cx="6556627" cy="1018582"/>
      </dsp:txXfrm>
    </dsp:sp>
    <dsp:sp modelId="{5C131ECA-4B0E-485A-B5E6-412A443B9945}">
      <dsp:nvSpPr>
        <dsp:cNvPr id="0" name=""/>
        <dsp:cNvSpPr/>
      </dsp:nvSpPr>
      <dsp:spPr>
        <a:xfrm>
          <a:off x="0" y="4136548"/>
          <a:ext cx="6666833" cy="1128788"/>
        </a:xfrm>
        <a:prstGeom prst="roundRect">
          <a:avLst/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100" kern="1200" dirty="0"/>
            <a:t>Thema: Kryptographie &amp; Verschlüsselung</a:t>
          </a:r>
          <a:endParaRPr lang="en-US" sz="2100" kern="1200" dirty="0"/>
        </a:p>
      </dsp:txBody>
      <dsp:txXfrm>
        <a:off x="55103" y="4191651"/>
        <a:ext cx="6556627" cy="10185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69FEC-740D-4C7D-9CF5-854D58D49C85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93891-048A-4967-96D0-F376B96295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3472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93891-048A-4967-96D0-F376B962951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8076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2E48-1AFA-993C-61AC-2648D997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3244270-0BAA-6F29-A32A-56E7183FF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67CC709-E3DB-9F4C-54F4-769E4543C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BE346A-D6DD-6915-C048-FCFC108FF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93891-048A-4967-96D0-F376B962951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89260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5B3FC-8B5D-4295-F93F-06810E3A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31AD81A-D77D-D5DC-FABB-0F27D03D1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6B363B6-2B1D-3393-B11F-7C1E6D2F8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6E0EFD-E0A2-E879-0447-A60627A69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93891-048A-4967-96D0-F376B962951E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6320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69765-947B-BDBC-239B-821212AB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CB151DB-DB0F-339B-9311-85358A7A0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70751FC-5FD6-0441-F0A4-89DA48D1D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0F6069-4C2F-9036-FED7-F6CB9E3E8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93891-048A-4967-96D0-F376B962951E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0249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7BA5-6F81-C711-D5DB-46EEF7C9F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75EAC60-79CB-4521-4367-1C8601006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1EC8FCE-9D6E-AAD3-13D8-E75FFCB77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33D21B-BFA0-E5DA-3290-150F4C0CC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93891-048A-4967-96D0-F376B962951E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75423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93891-048A-4967-96D0-F376B962951E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2791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93891-048A-4967-96D0-F376B962951E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938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93891-048A-4967-96D0-F376B962951E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92600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93891-048A-4967-96D0-F376B962951E}" type="slidenum">
              <a:rPr lang="de-CH" smtClean="0"/>
              <a:t>30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4490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3A2649-C09C-1E4B-328C-2B4FD7627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F1E07C-7B09-0992-4A3E-6E997787C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B98A31-4A1B-6428-490D-EEE5B1D6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6149-7C4A-4EAA-92CB-B59D35B2ED89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E101AA-817B-0CF9-E022-A3CD4E326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303AA9-36E4-783C-5EA3-163A562C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104C-A490-417E-B1BC-AC9A99430FA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88981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F6BF39-D1A3-EC60-A0B8-C2C9DF6E1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869903-C88B-35BD-29A2-28EE88C7C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C5C007-81CC-7371-7DFD-52E2105D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6149-7C4A-4EAA-92CB-B59D35B2ED89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AF7421-B0F7-E1EE-AABA-F571FB62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499EC0-32D7-0DF9-8204-286510F3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104C-A490-417E-B1BC-AC9A99430FA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135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9B7FBE-992C-DFD6-8316-1208C166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67C207-AF09-BB4D-124F-CE89868A3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8086DA-44FA-90C1-77CD-1448F32B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6149-7C4A-4EAA-92CB-B59D35B2ED89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9D4F21-01CB-F4B5-762A-48D8ADA7B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F9C0D8-6E62-E88D-72B5-DB59C44A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104C-A490-417E-B1BC-AC9A99430FA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73624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9580BD-5A0F-9F1C-B8F4-656B7764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28C1D3-11FD-7FE6-529C-994C99494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6DC6A0-C962-E57C-C421-650D317A3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EDB8AE-8916-902F-1FB2-19426D5E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6149-7C4A-4EAA-92CB-B59D35B2ED89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F4E154-DF51-6A96-8DE2-0B92F8535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DB541B-0001-5812-4908-915B54C41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104C-A490-417E-B1BC-AC9A99430FA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66874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32B58F-6850-31BD-6EFC-07D643B7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AC726B-801A-3A57-F1B8-6F387F732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0464E7D-8D37-F1F0-1759-4C2B9524F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54A88DF-9F0F-F7E8-C7F8-49429617E2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D86D982-D237-15F4-FA10-C765EF97F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49A1614-777D-CCFA-CF22-EBBAE657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6149-7C4A-4EAA-92CB-B59D35B2ED89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B1ABE57-76AE-F748-A408-6063B7D91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B6DFC53-CA0C-5DFE-3848-4E712569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104C-A490-417E-B1BC-AC9A99430FA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11876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DEA1CD-E985-637F-B770-DE71D0802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D22C42-8989-9FF5-E818-E005A4B1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6149-7C4A-4EAA-92CB-B59D35B2ED89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F83326-0300-EA39-F7EB-9D16FA87A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9976BB-7887-B063-5F2B-CE6C359A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104C-A490-417E-B1BC-AC9A99430FA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1096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97FC8B9-DFF2-C214-1BB3-44D4D132D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6149-7C4A-4EAA-92CB-B59D35B2ED89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A7B09C7-3A25-7F6C-2B2B-3B4018F04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0EE8C3-1B9C-D00B-81FF-B5D34012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104C-A490-417E-B1BC-AC9A99430FA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502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E260E9-7D57-32CE-DE06-DA0E4258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9C8F30-BA4E-727E-8310-27C88C292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D5DA3A-9FE8-5392-9F8B-A3DBBA98C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14B355-33EE-F9D7-37FE-44A175779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6149-7C4A-4EAA-92CB-B59D35B2ED89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A5776C-7552-8E2F-89B5-F66829BE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F22CF3-C385-E6C2-3EC5-B96083A1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104C-A490-417E-B1BC-AC9A99430FA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23969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BC067-22FD-3A08-B19E-B08B3651F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331AA86-6A63-7E84-A371-8322C949C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2407BA-4FEB-8221-6933-FDC715836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FC0CB6-7A90-00C8-0B82-66C6B1B44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6149-7C4A-4EAA-92CB-B59D35B2ED89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43B0ED-9F6C-75FA-5BCB-9103AC4E7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F775EE-B8A3-21AC-76DB-511E3D86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104C-A490-417E-B1BC-AC9A99430FA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3156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20A4E7-9826-CFBF-ED8D-45706D68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0AC4343-8C46-8864-0867-EC4D9D248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DA2ABC-3656-335B-880C-B53F00CD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6149-7C4A-4EAA-92CB-B59D35B2ED89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9B11F8-460A-540F-210E-9C2F40611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E19D9F-752C-56EA-5A2B-8892F2CAB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104C-A490-417E-B1BC-AC9A99430FA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51792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4FE5D73-9792-2BDD-558E-BCDCC7295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6F03005-3A00-D618-0098-3AE2913CB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A3CDA9-B3D6-741E-A2E0-E8466EA40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6149-7C4A-4EAA-92CB-B59D35B2ED89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E1E044-5A78-0F4D-E9F9-57354F919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1716F1-AB8A-C820-2670-D3144B94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104C-A490-417E-B1BC-AC9A99430FA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4999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92FD878-AB79-85C9-3D02-721732D7A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2BBCB0-7DCE-E270-49E6-D58073A0F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E8AB10-EFD3-1D06-2F80-06138E16A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36149-7C4A-4EAA-92CB-B59D35B2ED89}" type="datetimeFigureOut">
              <a:rPr lang="de-CH" smtClean="0"/>
              <a:t>29.10.25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849072-143A-4A22-6013-3031D4B18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A6B780-2805-D95C-DFC8-81C045EE6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E1104C-A490-417E-B1BC-AC9A99430FA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4369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cryptii.com/pipes/caesar-cipher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36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F5DF4CA-68F2-AD73-7B4D-E853B29C9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CH" sz="4000" dirty="0">
                <a:solidFill>
                  <a:srgbClr val="FFFFFF"/>
                </a:solidFill>
              </a:rPr>
              <a:t>Robin Bosshard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7168C258-F54C-8E0D-983F-9FBD43ADEB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551586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2116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72A0F-C160-20DE-7C2C-63874398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090484-3BBE-F634-1B45-323A43D74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90770"/>
            <a:ext cx="10703943" cy="4047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/>
              <a:t>Wie sind unsere Daten und Informationen im Internet </a:t>
            </a:r>
            <a:r>
              <a:rPr lang="de-DE" sz="2600" b="1" dirty="0"/>
              <a:t>geschützt</a:t>
            </a:r>
            <a:r>
              <a:rPr lang="de-DE" sz="2600" dirty="0"/>
              <a:t>?</a:t>
            </a:r>
            <a:endParaRPr lang="de-DE" sz="2200" dirty="0">
              <a:solidFill>
                <a:schemeClr val="accent1"/>
              </a:solidFill>
            </a:endParaRPr>
          </a:p>
          <a:p>
            <a:pPr marL="457200" lvl="1" indent="0">
              <a:buNone/>
            </a:pPr>
            <a:endParaRPr lang="de-DE" sz="2600" u="sn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C3BB21-3B48-3E34-6454-2CC27AA088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54" y="3244401"/>
            <a:ext cx="1072123" cy="7698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8C5E0660-8CDB-2643-E76E-E4045E08F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755522"/>
              </p:ext>
            </p:extLst>
          </p:nvPr>
        </p:nvGraphicFramePr>
        <p:xfrm>
          <a:off x="1702206" y="2580734"/>
          <a:ext cx="8847261" cy="316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8061">
                  <a:extLst>
                    <a:ext uri="{9D8B030D-6E8A-4147-A177-3AD203B41FA5}">
                      <a16:colId xmlns:a16="http://schemas.microsoft.com/office/drawing/2014/main" val="39516195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8991649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456934114"/>
                    </a:ext>
                  </a:extLst>
                </a:gridCol>
              </a:tblGrid>
              <a:tr h="573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Dienst 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Art der Verschlüsselung 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Wer kann mitlesen?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16991180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b="1" u="none" strike="noStrike" dirty="0">
                          <a:effectLst/>
                        </a:rPr>
                        <a:t> Webseiten mit HTTPS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CH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87655805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1" u="none" strike="noStrike" dirty="0">
                          <a:effectLst/>
                        </a:rPr>
                        <a:t>E-Mail (z. B. Gmail)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699635076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b="1" u="none" strike="noStrike" dirty="0">
                          <a:effectLst/>
                        </a:rPr>
                        <a:t>WhatsApp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CH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CH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137116858"/>
                  </a:ext>
                </a:extLst>
              </a:tr>
            </a:tbl>
          </a:graphicData>
        </a:graphic>
      </p:graphicFrame>
      <p:pic>
        <p:nvPicPr>
          <p:cNvPr id="1027" name="Picture 3">
            <a:extLst>
              <a:ext uri="{FF2B5EF4-FFF2-40B4-BE49-F238E27FC236}">
                <a16:creationId xmlns:a16="http://schemas.microsoft.com/office/drawing/2014/main" id="{71DEE27B-BC83-26B3-3E5C-5AFA5841C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9427" y="4086226"/>
            <a:ext cx="836287" cy="83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254E7432-612F-DC7A-EEA7-7161CE0A3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27" y="4958853"/>
            <a:ext cx="836287" cy="84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3801ACDB-BB70-F62A-AEE5-A8C54E6D4269}"/>
              </a:ext>
            </a:extLst>
          </p:cNvPr>
          <p:cNvSpPr txBox="1">
            <a:spLocks/>
          </p:cNvSpPr>
          <p:nvPr/>
        </p:nvSpPr>
        <p:spPr>
          <a:xfrm>
            <a:off x="838199" y="665207"/>
            <a:ext cx="94872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/>
              <a:t>Verschlüsselung im Alltag</a:t>
            </a:r>
            <a:endParaRPr lang="de-CH" sz="4000" b="1" dirty="0"/>
          </a:p>
        </p:txBody>
      </p:sp>
    </p:spTree>
    <p:extLst>
      <p:ext uri="{BB962C8B-B14F-4D97-AF65-F5344CB8AC3E}">
        <p14:creationId xmlns:p14="http://schemas.microsoft.com/office/powerpoint/2010/main" val="168433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9CC08-1B7C-E021-CA34-79A309E68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0C512A-2144-F4AF-F0DD-CFE2FC316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90770"/>
            <a:ext cx="10703943" cy="4047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/>
              <a:t>Wie sind unsere Daten und Informationen im Internet </a:t>
            </a:r>
            <a:r>
              <a:rPr lang="de-DE" sz="2600" b="1" dirty="0"/>
              <a:t>geschützt</a:t>
            </a:r>
            <a:r>
              <a:rPr lang="de-DE" sz="2600" dirty="0"/>
              <a:t>?</a:t>
            </a:r>
            <a:endParaRPr lang="de-DE" sz="2200" dirty="0">
              <a:solidFill>
                <a:schemeClr val="accent1"/>
              </a:solidFill>
            </a:endParaRPr>
          </a:p>
          <a:p>
            <a:pPr marL="457200" lvl="1" indent="0">
              <a:buNone/>
            </a:pPr>
            <a:endParaRPr lang="de-DE" sz="2600" u="sn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40AC68-B629-BDBD-598E-80C22B495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54" y="3244401"/>
            <a:ext cx="1072123" cy="7698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5BF0DF5-91CF-5966-D5E5-54B2F68C9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632538"/>
              </p:ext>
            </p:extLst>
          </p:nvPr>
        </p:nvGraphicFramePr>
        <p:xfrm>
          <a:off x="1702206" y="2580734"/>
          <a:ext cx="8847261" cy="316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8061">
                  <a:extLst>
                    <a:ext uri="{9D8B030D-6E8A-4147-A177-3AD203B41FA5}">
                      <a16:colId xmlns:a16="http://schemas.microsoft.com/office/drawing/2014/main" val="39516195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8991649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456934114"/>
                    </a:ext>
                  </a:extLst>
                </a:gridCol>
              </a:tblGrid>
              <a:tr h="573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Dienst 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Art der Verschlüsselung 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Wer kann mitlesen?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16991180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b="1" u="none" strike="noStrike" dirty="0">
                          <a:effectLst/>
                        </a:rPr>
                        <a:t> Webseiten mit HTTPS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Transportverschlüsselung (TLS)</a:t>
                      </a:r>
                      <a:endParaRPr lang="de-CH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900" u="none" strike="noStrike" dirty="0">
                          <a:effectLst/>
                        </a:rPr>
                        <a:t>Niemand unterwegs, </a:t>
                      </a:r>
                      <a:r>
                        <a:rPr lang="de-DE" sz="1900" b="0" u="none" strike="noStrike" dirty="0">
                          <a:effectLst/>
                        </a:rPr>
                        <a:t>aber</a:t>
                      </a:r>
                      <a:r>
                        <a:rPr lang="de-DE" sz="1900" u="none" strike="noStrike" dirty="0">
                          <a:effectLst/>
                        </a:rPr>
                        <a:t> die Webseite selbst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87655805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1" u="none" strike="noStrike" dirty="0">
                          <a:effectLst/>
                        </a:rPr>
                        <a:t>E-Mail (z. B. Gmail)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699635076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b="1" u="none" strike="noStrike" dirty="0">
                          <a:effectLst/>
                        </a:rPr>
                        <a:t>WhatsApp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CH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CH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137116858"/>
                  </a:ext>
                </a:extLst>
              </a:tr>
            </a:tbl>
          </a:graphicData>
        </a:graphic>
      </p:graphicFrame>
      <p:pic>
        <p:nvPicPr>
          <p:cNvPr id="1029" name="Picture 5">
            <a:extLst>
              <a:ext uri="{FF2B5EF4-FFF2-40B4-BE49-F238E27FC236}">
                <a16:creationId xmlns:a16="http://schemas.microsoft.com/office/drawing/2014/main" id="{980357DD-9379-7BE5-3E80-9A2794DA7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27" y="4958853"/>
            <a:ext cx="836287" cy="84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B73F6837-6644-C063-6004-A19A50CB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5207"/>
            <a:ext cx="9487237" cy="1325563"/>
          </a:xfrm>
        </p:spPr>
        <p:txBody>
          <a:bodyPr>
            <a:normAutofit/>
          </a:bodyPr>
          <a:lstStyle/>
          <a:p>
            <a:r>
              <a:rPr lang="de-DE" sz="4000" b="1" dirty="0"/>
              <a:t>Verschlüsselung im Alltag</a:t>
            </a:r>
            <a:endParaRPr lang="de-CH" sz="4000" b="1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75206B06-8B2A-A836-6169-DE4CAAFBB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9427" y="4086226"/>
            <a:ext cx="836287" cy="83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81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A87CD-37F5-EF0F-8638-263B2798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46BD77-BC21-CD30-750B-288D862F6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90770"/>
            <a:ext cx="10703943" cy="4047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/>
              <a:t>Wie sind unsere Daten und Informationen im Internet </a:t>
            </a:r>
            <a:r>
              <a:rPr lang="de-DE" sz="2600" b="1" dirty="0"/>
              <a:t>geschützt</a:t>
            </a:r>
            <a:r>
              <a:rPr lang="de-DE" sz="2600" dirty="0"/>
              <a:t>?</a:t>
            </a:r>
            <a:endParaRPr lang="de-DE" sz="2200" dirty="0">
              <a:solidFill>
                <a:schemeClr val="accent1"/>
              </a:solidFill>
            </a:endParaRPr>
          </a:p>
          <a:p>
            <a:pPr marL="457200" lvl="1" indent="0">
              <a:buNone/>
            </a:pPr>
            <a:endParaRPr lang="de-DE" sz="2600" u="sn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682E36-4644-14EF-9E41-E61C78443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54" y="3244401"/>
            <a:ext cx="1072123" cy="7698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el 4">
            <a:extLst>
              <a:ext uri="{FF2B5EF4-FFF2-40B4-BE49-F238E27FC236}">
                <a16:creationId xmlns:a16="http://schemas.microsoft.com/office/drawing/2014/main" id="{40717B92-A6DF-F330-B064-8BABC170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5207"/>
            <a:ext cx="9487237" cy="1325563"/>
          </a:xfrm>
        </p:spPr>
        <p:txBody>
          <a:bodyPr>
            <a:normAutofit/>
          </a:bodyPr>
          <a:lstStyle/>
          <a:p>
            <a:r>
              <a:rPr lang="de-DE" sz="4000" b="1" dirty="0"/>
              <a:t>Verschlüsselung im Alltag</a:t>
            </a:r>
            <a:endParaRPr lang="de-CH" sz="4000" b="1" dirty="0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3E92A905-C418-C52E-C6C3-7C74D9446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133999"/>
              </p:ext>
            </p:extLst>
          </p:nvPr>
        </p:nvGraphicFramePr>
        <p:xfrm>
          <a:off x="1702206" y="2580734"/>
          <a:ext cx="8847261" cy="316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8061">
                  <a:extLst>
                    <a:ext uri="{9D8B030D-6E8A-4147-A177-3AD203B41FA5}">
                      <a16:colId xmlns:a16="http://schemas.microsoft.com/office/drawing/2014/main" val="39516195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8991649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456934114"/>
                    </a:ext>
                  </a:extLst>
                </a:gridCol>
              </a:tblGrid>
              <a:tr h="573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Dienst 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Art der Verschlüsselung 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Wer kann mitlesen?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16991180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b="1" u="none" strike="noStrike" dirty="0">
                          <a:effectLst/>
                        </a:rPr>
                        <a:t> Webseiten mit HTTPS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Transportverschlüsselung (TLS)</a:t>
                      </a:r>
                      <a:endParaRPr lang="de-CH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900" u="none" strike="noStrike" dirty="0">
                          <a:effectLst/>
                        </a:rPr>
                        <a:t>Niemand unterwegs, </a:t>
                      </a:r>
                      <a:r>
                        <a:rPr lang="de-DE" sz="1900" b="0" u="none" strike="noStrike" dirty="0">
                          <a:effectLst/>
                        </a:rPr>
                        <a:t>aber</a:t>
                      </a:r>
                      <a:r>
                        <a:rPr lang="de-DE" sz="1900" u="none" strike="noStrike" dirty="0">
                          <a:effectLst/>
                        </a:rPr>
                        <a:t> die Webseite selbst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87655805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1" u="none" strike="noStrike" dirty="0">
                          <a:effectLst/>
                        </a:rPr>
                        <a:t>E-Mail (z. B. Gmail)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900" u="none" strike="noStrike" dirty="0">
                          <a:effectLst/>
                        </a:rPr>
                        <a:t>Transportverschlüsselung (TLS), optional Ende-zu-Ende (E2E)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900" u="none" strike="noStrike" dirty="0">
                          <a:effectLst/>
                        </a:rPr>
                        <a:t>Der Empfänger </a:t>
                      </a:r>
                      <a:r>
                        <a:rPr lang="de-DE" sz="1900" b="0" u="none" strike="noStrike" dirty="0">
                          <a:effectLst/>
                        </a:rPr>
                        <a:t>und</a:t>
                      </a:r>
                      <a:r>
                        <a:rPr lang="de-DE" sz="1900" u="none" strike="noStrike" dirty="0">
                          <a:effectLst/>
                        </a:rPr>
                        <a:t> der Mailanbieter (ohne E2E)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699635076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b="1" u="none" strike="noStrike" dirty="0">
                          <a:effectLst/>
                        </a:rPr>
                        <a:t>WhatsApp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CH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CH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137116858"/>
                  </a:ext>
                </a:extLst>
              </a:tr>
            </a:tbl>
          </a:graphicData>
        </a:graphic>
      </p:graphicFrame>
      <p:pic>
        <p:nvPicPr>
          <p:cNvPr id="1029" name="Picture 5">
            <a:extLst>
              <a:ext uri="{FF2B5EF4-FFF2-40B4-BE49-F238E27FC236}">
                <a16:creationId xmlns:a16="http://schemas.microsoft.com/office/drawing/2014/main" id="{216F2E22-C213-DDAB-24DB-EECCF9F59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27" y="4958853"/>
            <a:ext cx="836287" cy="84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89474738-65F6-2F54-86D4-C5A2DCF08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9427" y="4086226"/>
            <a:ext cx="836287" cy="83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933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56B00-16E0-5CEF-0B69-C84B684F4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1E0515-37E4-9B5B-A82F-6180F4E3A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90770"/>
            <a:ext cx="10703943" cy="4047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/>
              <a:t>Wie sind unsere Daten und Informationen im Internet </a:t>
            </a:r>
            <a:r>
              <a:rPr lang="de-DE" sz="2600" b="1" dirty="0"/>
              <a:t>geschützt</a:t>
            </a:r>
            <a:r>
              <a:rPr lang="de-DE" sz="2600" dirty="0"/>
              <a:t>?</a:t>
            </a:r>
            <a:endParaRPr lang="de-DE" sz="2200" dirty="0">
              <a:solidFill>
                <a:schemeClr val="accent1"/>
              </a:solidFill>
            </a:endParaRPr>
          </a:p>
          <a:p>
            <a:pPr marL="457200" lvl="1" indent="0">
              <a:buNone/>
            </a:pPr>
            <a:endParaRPr lang="de-DE" sz="2600" u="sn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CA2630-00C4-83E2-A9D3-22568076C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54" y="3244401"/>
            <a:ext cx="1072123" cy="7698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F4BC79ED-EA2E-3078-3AEC-E56190D3F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328659"/>
              </p:ext>
            </p:extLst>
          </p:nvPr>
        </p:nvGraphicFramePr>
        <p:xfrm>
          <a:off x="1702206" y="2580734"/>
          <a:ext cx="8847261" cy="316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8061">
                  <a:extLst>
                    <a:ext uri="{9D8B030D-6E8A-4147-A177-3AD203B41FA5}">
                      <a16:colId xmlns:a16="http://schemas.microsoft.com/office/drawing/2014/main" val="39516195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8991649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456934114"/>
                    </a:ext>
                  </a:extLst>
                </a:gridCol>
              </a:tblGrid>
              <a:tr h="5737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Dienst 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Art der Verschlüsselung 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Wer kann mitlesen?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16991180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b="1" u="none" strike="noStrike" dirty="0">
                          <a:effectLst/>
                        </a:rPr>
                        <a:t> Webseiten mit HTTPS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Transportverschlüsselung (TLS)</a:t>
                      </a:r>
                      <a:endParaRPr lang="de-CH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900" u="none" strike="noStrike" dirty="0">
                          <a:effectLst/>
                        </a:rPr>
                        <a:t>Niemand unterwegs, </a:t>
                      </a:r>
                      <a:r>
                        <a:rPr lang="de-DE" sz="1900" b="0" u="none" strike="noStrike" dirty="0">
                          <a:effectLst/>
                        </a:rPr>
                        <a:t>aber</a:t>
                      </a:r>
                      <a:r>
                        <a:rPr lang="de-DE" sz="1900" u="none" strike="noStrike" dirty="0">
                          <a:effectLst/>
                        </a:rPr>
                        <a:t> die Webseite selbst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87655805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1" u="none" strike="noStrike" dirty="0">
                          <a:effectLst/>
                        </a:rPr>
                        <a:t>E-Mail (z. B. Gmail)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900" u="none" strike="noStrike" dirty="0">
                          <a:effectLst/>
                        </a:rPr>
                        <a:t>Transportverschlüsselung (TLS), optional Ende-zu-Ende (E2E)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1900" u="none" strike="noStrike" dirty="0">
                          <a:effectLst/>
                        </a:rPr>
                        <a:t>Der Empfänger </a:t>
                      </a:r>
                      <a:r>
                        <a:rPr lang="de-DE" sz="1900" b="0" u="none" strike="noStrike" dirty="0">
                          <a:effectLst/>
                        </a:rPr>
                        <a:t>und</a:t>
                      </a:r>
                      <a:r>
                        <a:rPr lang="de-DE" sz="1900" u="none" strike="noStrike" dirty="0">
                          <a:effectLst/>
                        </a:rPr>
                        <a:t> der Mailanbieter (ohne E2E)</a:t>
                      </a:r>
                      <a:endParaRPr lang="de-DE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699635076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b="1" u="none" strike="noStrike" dirty="0">
                          <a:effectLst/>
                        </a:rPr>
                        <a:t>WhatsApp</a:t>
                      </a:r>
                      <a:endParaRPr lang="de-CH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Ende-zu-Ende-Verschlüsselung (Inhalt von Einzelchats)</a:t>
                      </a:r>
                      <a:endParaRPr lang="de-CH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sz="1900" u="none" strike="noStrike" dirty="0">
                          <a:effectLst/>
                        </a:rPr>
                        <a:t>Nur der Empfänger</a:t>
                      </a:r>
                      <a:endParaRPr lang="de-CH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000" marR="72000" marT="72000" marB="72000" anchor="ctr"/>
                </a:tc>
                <a:extLst>
                  <a:ext uri="{0D108BD9-81ED-4DB2-BD59-A6C34878D82A}">
                    <a16:rowId xmlns:a16="http://schemas.microsoft.com/office/drawing/2014/main" val="1137116858"/>
                  </a:ext>
                </a:extLst>
              </a:tr>
            </a:tbl>
          </a:graphicData>
        </a:graphic>
      </p:graphicFrame>
      <p:pic>
        <p:nvPicPr>
          <p:cNvPr id="1029" name="Picture 5">
            <a:extLst>
              <a:ext uri="{FF2B5EF4-FFF2-40B4-BE49-F238E27FC236}">
                <a16:creationId xmlns:a16="http://schemas.microsoft.com/office/drawing/2014/main" id="{6C06B52B-4BB6-F1C2-CEDB-54F807C4D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27" y="4958853"/>
            <a:ext cx="836287" cy="84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B4C08A21-6AAC-EBF5-29D6-78B8B0F8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5207"/>
            <a:ext cx="9487237" cy="1325563"/>
          </a:xfrm>
        </p:spPr>
        <p:txBody>
          <a:bodyPr>
            <a:normAutofit/>
          </a:bodyPr>
          <a:lstStyle/>
          <a:p>
            <a:r>
              <a:rPr lang="de-DE" sz="4000" b="1" dirty="0"/>
              <a:t>Verschlüsselung im Alltag</a:t>
            </a:r>
            <a:endParaRPr lang="de-CH" sz="4000" b="1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87C10AAD-4149-CD14-3E08-72B1E3941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9427" y="4086226"/>
            <a:ext cx="836287" cy="83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13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75893-7D5A-27B0-D8C8-21588E6A3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7A1E14D-F2D7-5636-7841-59A2A27B00CE}"/>
              </a:ext>
            </a:extLst>
          </p:cNvPr>
          <p:cNvSpPr/>
          <p:nvPr/>
        </p:nvSpPr>
        <p:spPr>
          <a:xfrm>
            <a:off x="3832587" y="1710320"/>
            <a:ext cx="4178300" cy="889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800" dirty="0">
                <a:solidFill>
                  <a:schemeClr val="tx1"/>
                </a:solidFill>
              </a:rPr>
              <a:t>Informationssicherheit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72C1A2C-6608-7B57-4269-9717D85DD655}"/>
              </a:ext>
            </a:extLst>
          </p:cNvPr>
          <p:cNvSpPr/>
          <p:nvPr/>
        </p:nvSpPr>
        <p:spPr>
          <a:xfrm>
            <a:off x="3838937" y="3158120"/>
            <a:ext cx="4178300" cy="889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800" dirty="0">
                <a:solidFill>
                  <a:schemeClr val="tx1"/>
                </a:solidFill>
              </a:rPr>
              <a:t>Kryptographie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B9A606B-5D42-E4C8-E360-950911D2560F}"/>
              </a:ext>
            </a:extLst>
          </p:cNvPr>
          <p:cNvSpPr/>
          <p:nvPr/>
        </p:nvSpPr>
        <p:spPr>
          <a:xfrm>
            <a:off x="3838937" y="4529721"/>
            <a:ext cx="4178300" cy="889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800" dirty="0">
                <a:solidFill>
                  <a:schemeClr val="tx1"/>
                </a:solidFill>
              </a:rPr>
              <a:t>Verschlüsselung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E7784C2-DEE4-F479-5F11-7F3C937544FE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5921737" y="2599320"/>
            <a:ext cx="6350" cy="558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4FB557A9-B041-7B4A-FF6D-D4E6317FAA30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928087" y="4047120"/>
            <a:ext cx="0" cy="482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971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FB95E1-1B5A-9B1E-08E3-71227AD4C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Kryptographie? (kurze Antwort)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477B7D-B886-A60C-06AF-BA3587237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2451" y="2443970"/>
            <a:ext cx="4587097" cy="308774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de-CH" sz="3600" dirty="0"/>
              <a:t>Die Wissenschaft der </a:t>
            </a:r>
          </a:p>
          <a:p>
            <a:pPr marL="0" indent="0" algn="ctr">
              <a:buNone/>
            </a:pPr>
            <a:r>
              <a:rPr lang="de-CH" sz="3600" b="1" dirty="0"/>
              <a:t>Verschlüsselung </a:t>
            </a:r>
          </a:p>
          <a:p>
            <a:pPr marL="0" indent="0" algn="ctr">
              <a:buNone/>
            </a:pPr>
            <a:r>
              <a:rPr lang="de-CH" sz="3600" b="1" dirty="0"/>
              <a:t>und </a:t>
            </a:r>
          </a:p>
          <a:p>
            <a:pPr marL="0" indent="0" algn="ctr">
              <a:buNone/>
            </a:pPr>
            <a:r>
              <a:rPr lang="de-CH" sz="3600" b="1" dirty="0"/>
              <a:t>Entschlüsselung</a:t>
            </a:r>
          </a:p>
          <a:p>
            <a:pPr marL="0" indent="0" algn="ctr">
              <a:buNone/>
            </a:pPr>
            <a:r>
              <a:rPr lang="de-CH" sz="3600" dirty="0"/>
              <a:t>von Informationen.</a:t>
            </a:r>
          </a:p>
          <a:p>
            <a:pPr marL="0" indent="0">
              <a:buNone/>
            </a:pPr>
            <a:endParaRPr lang="de-CH" sz="2300" dirty="0"/>
          </a:p>
        </p:txBody>
      </p:sp>
    </p:spTree>
    <p:extLst>
      <p:ext uri="{BB962C8B-B14F-4D97-AF65-F5344CB8AC3E}">
        <p14:creationId xmlns:p14="http://schemas.microsoft.com/office/powerpoint/2010/main" val="259258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C6665-6292-2A43-4170-3520B91A7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914BA6-105C-A8AA-7DFB-D587AE3B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Kryptographie? (lange Antwort)</a:t>
            </a:r>
          </a:p>
        </p:txBody>
      </p:sp>
      <p:pic>
        <p:nvPicPr>
          <p:cNvPr id="10" name="Video 3">
            <a:hlinkClick r:id="" action="ppaction://media"/>
            <a:extLst>
              <a:ext uri="{FF2B5EF4-FFF2-40B4-BE49-F238E27FC236}">
                <a16:creationId xmlns:a16="http://schemas.microsoft.com/office/drawing/2014/main" id="{EB1B304E-8552-4149-3DDF-F835696209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89782" y="1479600"/>
            <a:ext cx="5011200" cy="50112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D3205DC-FC7D-F14F-FAE6-F917C755B6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584004" y="1471814"/>
            <a:ext cx="5028506" cy="502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5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6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 mute="1">
                <p:cTn id="15" fill="remove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F1455-595E-18D6-B484-34C9579E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de-CH" dirty="0"/>
              <a:t>Terminologie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121791-94D4-66D8-1605-CDE0011A0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350" y="3706811"/>
            <a:ext cx="10515600" cy="1820636"/>
          </a:xfrm>
        </p:spPr>
        <p:txBody>
          <a:bodyPr/>
          <a:lstStyle/>
          <a:p>
            <a:r>
              <a:rPr lang="de-CH" dirty="0">
                <a:solidFill>
                  <a:srgbClr val="0070C0"/>
                </a:solidFill>
              </a:rPr>
              <a:t>Kryptographie</a:t>
            </a:r>
            <a:r>
              <a:rPr lang="de-CH" dirty="0"/>
              <a:t> 	=     Geheimschrift</a:t>
            </a:r>
          </a:p>
          <a:p>
            <a:r>
              <a:rPr lang="de-CH" dirty="0">
                <a:solidFill>
                  <a:srgbClr val="C00000"/>
                </a:solidFill>
              </a:rPr>
              <a:t>Kryptoanalyse</a:t>
            </a:r>
            <a:r>
              <a:rPr lang="de-CH" dirty="0"/>
              <a:t> 	=     Knacken der Kryptographie </a:t>
            </a:r>
          </a:p>
          <a:p>
            <a:r>
              <a:rPr lang="de-CH" dirty="0">
                <a:solidFill>
                  <a:srgbClr val="7030A0"/>
                </a:solidFill>
              </a:rPr>
              <a:t>Kryptologie</a:t>
            </a:r>
            <a:r>
              <a:rPr lang="de-CH" dirty="0"/>
              <a:t> 	=     </a:t>
            </a:r>
            <a:r>
              <a:rPr lang="de-CH" dirty="0">
                <a:solidFill>
                  <a:srgbClr val="0070C0"/>
                </a:solidFill>
              </a:rPr>
              <a:t>Kryptographie</a:t>
            </a:r>
            <a:r>
              <a:rPr lang="de-CH" dirty="0"/>
              <a:t> + </a:t>
            </a:r>
            <a:r>
              <a:rPr lang="de-CH" dirty="0">
                <a:solidFill>
                  <a:srgbClr val="C00000"/>
                </a:solidFill>
              </a:rPr>
              <a:t>Kryptoanalyse</a:t>
            </a:r>
          </a:p>
          <a:p>
            <a:endParaRPr lang="de-CH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09C9E89-9784-EEFB-652A-A744F9F0ADDC}"/>
              </a:ext>
            </a:extLst>
          </p:cNvPr>
          <p:cNvSpPr/>
          <p:nvPr/>
        </p:nvSpPr>
        <p:spPr>
          <a:xfrm>
            <a:off x="838200" y="1690687"/>
            <a:ext cx="5750379" cy="16008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de-CH" sz="2400" b="1" dirty="0"/>
              <a:t>Altgriechisch</a:t>
            </a:r>
            <a:r>
              <a:rPr lang="de-CH" sz="2400" dirty="0"/>
              <a:t>:</a:t>
            </a:r>
            <a:br>
              <a:rPr lang="de-CH" sz="2400" dirty="0"/>
            </a:br>
            <a:r>
              <a:rPr lang="el-GR" sz="2400" dirty="0"/>
              <a:t>κρυπτός</a:t>
            </a:r>
            <a:r>
              <a:rPr lang="de-CH" sz="2400" dirty="0"/>
              <a:t> </a:t>
            </a:r>
            <a:r>
              <a:rPr lang="de-CH" sz="2400" i="1" dirty="0" err="1"/>
              <a:t>kryptós</a:t>
            </a:r>
            <a:r>
              <a:rPr lang="de-CH" sz="2400" i="1" dirty="0"/>
              <a:t>   =  verborgen/geheim</a:t>
            </a:r>
          </a:p>
          <a:p>
            <a:pPr lvl="1"/>
            <a:r>
              <a:rPr lang="el-GR" sz="2400" dirty="0"/>
              <a:t>γράφειν</a:t>
            </a:r>
            <a:r>
              <a:rPr lang="de-CH" sz="2400" dirty="0"/>
              <a:t> </a:t>
            </a:r>
            <a:r>
              <a:rPr lang="de-CH" sz="2400" i="1" dirty="0" err="1"/>
              <a:t>gráphein</a:t>
            </a:r>
            <a:r>
              <a:rPr lang="de-CH" sz="2400" i="1" dirty="0"/>
              <a:t> =  schreiben</a:t>
            </a:r>
          </a:p>
          <a:p>
            <a:pPr algn="ctr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7522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E43CCA-3D71-67E6-1DDD-0E6DFAE2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Grundprinzip: (sichere) Verschlüsselung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6DD05F-9789-3687-5207-7B2939E89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69269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Die </a:t>
            </a:r>
            <a:r>
              <a:rPr lang="de-DE" b="1" dirty="0"/>
              <a:t>Verschlüsselung </a:t>
            </a:r>
            <a:r>
              <a:rPr lang="de-DE" dirty="0"/>
              <a:t>(engl. </a:t>
            </a:r>
            <a:r>
              <a:rPr lang="de-CH" i="1" dirty="0" err="1"/>
              <a:t>encryption</a:t>
            </a:r>
            <a:r>
              <a:rPr lang="de-CH" dirty="0"/>
              <a:t>)</a:t>
            </a:r>
            <a:r>
              <a:rPr lang="de-DE" dirty="0"/>
              <a:t> bezeichnet ein Verfahren, bei dem eine Nachricht (</a:t>
            </a:r>
            <a:r>
              <a:rPr lang="de-DE" b="1" dirty="0"/>
              <a:t>Klartext, </a:t>
            </a:r>
            <a:r>
              <a:rPr lang="de-DE" dirty="0"/>
              <a:t>engl. </a:t>
            </a:r>
            <a:r>
              <a:rPr lang="de-DE" i="1" dirty="0" err="1"/>
              <a:t>plaintext</a:t>
            </a:r>
            <a:r>
              <a:rPr lang="de-DE" dirty="0"/>
              <a:t>) in eine unlesbare Form (</a:t>
            </a:r>
            <a:r>
              <a:rPr lang="de-DE" b="1" dirty="0"/>
              <a:t>Geheimtext, </a:t>
            </a:r>
            <a:r>
              <a:rPr lang="de-DE" dirty="0"/>
              <a:t>engl. </a:t>
            </a:r>
            <a:r>
              <a:rPr lang="de-DE" i="1" dirty="0" err="1"/>
              <a:t>ciphertext</a:t>
            </a:r>
            <a:r>
              <a:rPr lang="de-DE" dirty="0"/>
              <a:t>) umgewandelt wird, um sie vor dem Zugriff durch Unberechtigte zu schützen. </a:t>
            </a:r>
            <a:br>
              <a:rPr lang="de-DE" dirty="0"/>
            </a:br>
            <a:r>
              <a:rPr lang="de-DE" dirty="0"/>
              <a:t>Nur mit einer zusätzlichen Information (</a:t>
            </a:r>
            <a:r>
              <a:rPr lang="de-DE" b="1" dirty="0"/>
              <a:t>Schlüssel, </a:t>
            </a:r>
            <a:r>
              <a:rPr lang="de-DE" dirty="0"/>
              <a:t>engl. </a:t>
            </a:r>
            <a:r>
              <a:rPr lang="de-DE" i="1" dirty="0" err="1"/>
              <a:t>key</a:t>
            </a:r>
            <a:r>
              <a:rPr lang="de-DE" dirty="0"/>
              <a:t>) kann der Geheimtext durch </a:t>
            </a:r>
            <a:r>
              <a:rPr lang="de-DE" b="1" dirty="0"/>
              <a:t>Entschlüsselung</a:t>
            </a:r>
            <a:r>
              <a:rPr lang="de-DE" dirty="0"/>
              <a:t> (engl. </a:t>
            </a:r>
            <a:r>
              <a:rPr lang="de-DE" i="1" dirty="0" err="1"/>
              <a:t>decryption</a:t>
            </a:r>
            <a:r>
              <a:rPr lang="de-DE" dirty="0"/>
              <a:t>) wieder in den ursprünglichen, lesbaren Klartext zurückgewandelt werden.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41943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C567DC-0C25-C869-BE65-98C92FF1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Grundprinzip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A9016B6-FC94-F8F3-A224-86A034E41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466" y="3144268"/>
            <a:ext cx="1367456" cy="606294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9D54B0E7-E7C5-28F5-6C98-0C2DB00A8F60}"/>
              </a:ext>
            </a:extLst>
          </p:cNvPr>
          <p:cNvSpPr/>
          <p:nvPr/>
        </p:nvSpPr>
        <p:spPr>
          <a:xfrm>
            <a:off x="576831" y="3968930"/>
            <a:ext cx="2616200" cy="84666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200" b="1" dirty="0">
                <a:solidFill>
                  <a:schemeClr val="tx1"/>
                </a:solidFill>
              </a:rPr>
              <a:t>Klartext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86D16A8-5171-ADD7-0EDC-A91B21D1F2F1}"/>
              </a:ext>
            </a:extLst>
          </p:cNvPr>
          <p:cNvSpPr/>
          <p:nvPr/>
        </p:nvSpPr>
        <p:spPr>
          <a:xfrm>
            <a:off x="4787900" y="4046096"/>
            <a:ext cx="2616200" cy="84666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200" b="1" dirty="0">
                <a:solidFill>
                  <a:schemeClr val="tx1"/>
                </a:solidFill>
              </a:rPr>
              <a:t>Geheimtext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8A9772C-C8C1-B6D3-3011-66BCE3027C53}"/>
              </a:ext>
            </a:extLst>
          </p:cNvPr>
          <p:cNvSpPr/>
          <p:nvPr/>
        </p:nvSpPr>
        <p:spPr>
          <a:xfrm>
            <a:off x="9043534" y="4046096"/>
            <a:ext cx="2616200" cy="84666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200" b="1" dirty="0">
                <a:solidFill>
                  <a:schemeClr val="tx1"/>
                </a:solidFill>
              </a:rPr>
              <a:t>Klartext</a:t>
            </a:r>
          </a:p>
        </p:txBody>
      </p:sp>
      <p:cxnSp>
        <p:nvCxnSpPr>
          <p:cNvPr id="11" name="Verbinder: gekrümmt 10">
            <a:extLst>
              <a:ext uri="{FF2B5EF4-FFF2-40B4-BE49-F238E27FC236}">
                <a16:creationId xmlns:a16="http://schemas.microsoft.com/office/drawing/2014/main" id="{342C0B14-5EC4-707C-44D0-E164BB63769B}"/>
              </a:ext>
            </a:extLst>
          </p:cNvPr>
          <p:cNvCxnSpPr>
            <a:cxnSpLocks/>
            <a:stCxn id="7" idx="7"/>
            <a:endCxn id="8" idx="1"/>
          </p:cNvCxnSpPr>
          <p:nvPr/>
        </p:nvCxnSpPr>
        <p:spPr>
          <a:xfrm rot="16200000" flipH="1">
            <a:off x="3951882" y="2950937"/>
            <a:ext cx="77166" cy="2361137"/>
          </a:xfrm>
          <a:prstGeom prst="curvedConnector3">
            <a:avLst>
              <a:gd name="adj1" fmla="val -389853"/>
            </a:avLst>
          </a:prstGeom>
          <a:ln w="2222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Verbinder: gekrümmt 17">
            <a:extLst>
              <a:ext uri="{FF2B5EF4-FFF2-40B4-BE49-F238E27FC236}">
                <a16:creationId xmlns:a16="http://schemas.microsoft.com/office/drawing/2014/main" id="{52C91F1F-9913-64F6-DE06-75765822FFFD}"/>
              </a:ext>
            </a:extLst>
          </p:cNvPr>
          <p:cNvCxnSpPr>
            <a:cxnSpLocks/>
            <a:stCxn id="8" idx="7"/>
            <a:endCxn id="9" idx="1"/>
          </p:cNvCxnSpPr>
          <p:nvPr/>
        </p:nvCxnSpPr>
        <p:spPr>
          <a:xfrm rot="5400000" flipH="1" flipV="1">
            <a:off x="8223817" y="2967237"/>
            <a:ext cx="12700" cy="2405702"/>
          </a:xfrm>
          <a:prstGeom prst="curvedConnector3">
            <a:avLst>
              <a:gd name="adj1" fmla="val 2776315"/>
            </a:avLst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A55DFD53-4D5E-799B-EA71-BC1BEB32386D}"/>
              </a:ext>
            </a:extLst>
          </p:cNvPr>
          <p:cNvSpPr txBox="1"/>
          <p:nvPr/>
        </p:nvSpPr>
        <p:spPr>
          <a:xfrm>
            <a:off x="3008821" y="3867664"/>
            <a:ext cx="20078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500" b="1" cap="all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Verschlüsselung</a:t>
            </a:r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57CE6D9C-9CC2-043B-BE32-A92D567FE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100" y="3139817"/>
            <a:ext cx="1367456" cy="606294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A89AC99C-C9A1-EA41-B0A9-41E483364543}"/>
              </a:ext>
            </a:extLst>
          </p:cNvPr>
          <p:cNvSpPr txBox="1"/>
          <p:nvPr/>
        </p:nvSpPr>
        <p:spPr>
          <a:xfrm>
            <a:off x="7252527" y="3931450"/>
            <a:ext cx="20078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500" b="1" cap="all" dirty="0">
                <a:solidFill>
                  <a:srgbClr val="7030A0"/>
                </a:solidFill>
              </a:rPr>
              <a:t>Entschlüsselung</a:t>
            </a:r>
          </a:p>
        </p:txBody>
      </p: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62C74614-DE98-0716-E848-8D395FD03E2D}"/>
              </a:ext>
            </a:extLst>
          </p:cNvPr>
          <p:cNvCxnSpPr>
            <a:cxnSpLocks/>
            <a:stCxn id="7" idx="3"/>
            <a:endCxn id="8" idx="3"/>
          </p:cNvCxnSpPr>
          <p:nvPr/>
        </p:nvCxnSpPr>
        <p:spPr>
          <a:xfrm rot="16200000" flipH="1">
            <a:off x="3026916" y="2624653"/>
            <a:ext cx="77166" cy="4211069"/>
          </a:xfrm>
          <a:prstGeom prst="bentConnector3">
            <a:avLst>
              <a:gd name="adj1" fmla="val 948392"/>
            </a:avLst>
          </a:prstGeom>
          <a:ln w="2222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0581D867-DC50-F83E-D3FA-67AC7FE3AAA1}"/>
              </a:ext>
            </a:extLst>
          </p:cNvPr>
          <p:cNvCxnSpPr>
            <a:cxnSpLocks/>
            <a:stCxn id="8" idx="5"/>
            <a:endCxn id="9" idx="5"/>
          </p:cNvCxnSpPr>
          <p:nvPr/>
        </p:nvCxnSpPr>
        <p:spPr>
          <a:xfrm rot="16200000" flipH="1">
            <a:off x="9148783" y="2640954"/>
            <a:ext cx="12700" cy="4255634"/>
          </a:xfrm>
          <a:prstGeom prst="bentConnector3">
            <a:avLst>
              <a:gd name="adj1" fmla="val 4897740"/>
            </a:avLst>
          </a:prstGeom>
          <a:ln w="222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DC3D867A-EBED-BB4D-B3BD-65F3F77F30ED}"/>
              </a:ext>
            </a:extLst>
          </p:cNvPr>
          <p:cNvSpPr txBox="1"/>
          <p:nvPr/>
        </p:nvSpPr>
        <p:spPr>
          <a:xfrm>
            <a:off x="2523632" y="5068377"/>
            <a:ext cx="1083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Sender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953B9090-B36B-167E-FD60-3EA21BFA1144}"/>
              </a:ext>
            </a:extLst>
          </p:cNvPr>
          <p:cNvSpPr txBox="1"/>
          <p:nvPr/>
        </p:nvSpPr>
        <p:spPr>
          <a:xfrm>
            <a:off x="8349647" y="5068376"/>
            <a:ext cx="1610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600" b="1" dirty="0">
                <a:solidFill>
                  <a:schemeClr val="accent5"/>
                </a:solidFill>
              </a:rPr>
              <a:t>Empfänger</a:t>
            </a:r>
          </a:p>
        </p:txBody>
      </p:sp>
      <p:sp>
        <p:nvSpPr>
          <p:cNvPr id="4" name="Scrollen: horizontal 3">
            <a:extLst>
              <a:ext uri="{FF2B5EF4-FFF2-40B4-BE49-F238E27FC236}">
                <a16:creationId xmlns:a16="http://schemas.microsoft.com/office/drawing/2014/main" id="{4F3BF532-160E-0AE4-2453-B4823CE27511}"/>
              </a:ext>
            </a:extLst>
          </p:cNvPr>
          <p:cNvSpPr/>
          <p:nvPr/>
        </p:nvSpPr>
        <p:spPr>
          <a:xfrm>
            <a:off x="739963" y="2268790"/>
            <a:ext cx="2325535" cy="844510"/>
          </a:xfrm>
          <a:prstGeom prst="horizontalScroll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chemeClr val="tx1"/>
                </a:solidFill>
              </a:rPr>
              <a:t>GUTEN MORGEN</a:t>
            </a:r>
          </a:p>
        </p:txBody>
      </p:sp>
      <p:sp>
        <p:nvSpPr>
          <p:cNvPr id="5" name="Scrollen: horizontal 4">
            <a:extLst>
              <a:ext uri="{FF2B5EF4-FFF2-40B4-BE49-F238E27FC236}">
                <a16:creationId xmlns:a16="http://schemas.microsoft.com/office/drawing/2014/main" id="{FF1385BC-3713-3E15-D0A9-171AEA18CF2F}"/>
              </a:ext>
            </a:extLst>
          </p:cNvPr>
          <p:cNvSpPr/>
          <p:nvPr/>
        </p:nvSpPr>
        <p:spPr>
          <a:xfrm>
            <a:off x="9188866" y="2268790"/>
            <a:ext cx="2325535" cy="844510"/>
          </a:xfrm>
          <a:prstGeom prst="horizontalScroll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chemeClr val="tx1"/>
                </a:solidFill>
              </a:rPr>
              <a:t>GUTEN MORGEN</a:t>
            </a:r>
          </a:p>
        </p:txBody>
      </p:sp>
      <p:sp>
        <p:nvSpPr>
          <p:cNvPr id="10" name="Scrollen: horizontal 9">
            <a:extLst>
              <a:ext uri="{FF2B5EF4-FFF2-40B4-BE49-F238E27FC236}">
                <a16:creationId xmlns:a16="http://schemas.microsoft.com/office/drawing/2014/main" id="{250CB187-D408-6E1C-6C87-50B5B9691EEB}"/>
              </a:ext>
            </a:extLst>
          </p:cNvPr>
          <p:cNvSpPr/>
          <p:nvPr/>
        </p:nvSpPr>
        <p:spPr>
          <a:xfrm>
            <a:off x="4986736" y="2268790"/>
            <a:ext cx="2218527" cy="844510"/>
          </a:xfrm>
          <a:prstGeom prst="horizontalScroll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chemeClr val="tx1"/>
                </a:solidFill>
              </a:rPr>
              <a:t>JXWHQ PRUJHQ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74F7212-B98B-1299-DF2E-CFCFEFF0DAA2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1884931" y="3007736"/>
            <a:ext cx="17800" cy="961194"/>
          </a:xfrm>
          <a:prstGeom prst="line">
            <a:avLst/>
          </a:prstGeom>
          <a:ln w="15875">
            <a:solidFill>
              <a:schemeClr val="tx1">
                <a:alpha val="87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5026BB3-390C-13C7-BDFD-6641F6391894}"/>
              </a:ext>
            </a:extLst>
          </p:cNvPr>
          <p:cNvCxnSpPr>
            <a:stCxn id="10" idx="2"/>
            <a:endCxn id="8" idx="0"/>
          </p:cNvCxnSpPr>
          <p:nvPr/>
        </p:nvCxnSpPr>
        <p:spPr>
          <a:xfrm>
            <a:off x="6096000" y="3007736"/>
            <a:ext cx="0" cy="1038360"/>
          </a:xfrm>
          <a:prstGeom prst="line">
            <a:avLst/>
          </a:prstGeom>
          <a:ln w="15875">
            <a:solidFill>
              <a:schemeClr val="tx1">
                <a:alpha val="87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3D5403E-9076-200F-FAF5-BD068F5E844B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10351634" y="3007736"/>
            <a:ext cx="0" cy="1038360"/>
          </a:xfrm>
          <a:prstGeom prst="line">
            <a:avLst/>
          </a:prstGeom>
          <a:ln w="15875">
            <a:solidFill>
              <a:schemeClr val="tx1">
                <a:alpha val="87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796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DB402-7CAF-7EE8-FACF-CD2CA6E7F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1F65470-98A9-7836-6DA3-31CCE803BF63}"/>
              </a:ext>
            </a:extLst>
          </p:cNvPr>
          <p:cNvSpPr/>
          <p:nvPr/>
        </p:nvSpPr>
        <p:spPr>
          <a:xfrm>
            <a:off x="4043909" y="2743366"/>
            <a:ext cx="3842661" cy="343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chemeClr val="tx1"/>
                </a:solidFill>
              </a:rPr>
              <a:t>Symmetrische Verschlüsselung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4FDD022-1E75-6838-A0CE-A011AC68DAB4}"/>
              </a:ext>
            </a:extLst>
          </p:cNvPr>
          <p:cNvSpPr/>
          <p:nvPr/>
        </p:nvSpPr>
        <p:spPr>
          <a:xfrm>
            <a:off x="7886570" y="3720716"/>
            <a:ext cx="1869235" cy="343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chemeClr val="tx1"/>
                </a:solidFill>
              </a:rPr>
              <a:t>Transposition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2C2CC72-7FB3-1D82-8249-08DCCE4B9A93}"/>
              </a:ext>
            </a:extLst>
          </p:cNvPr>
          <p:cNvSpPr/>
          <p:nvPr/>
        </p:nvSpPr>
        <p:spPr>
          <a:xfrm>
            <a:off x="2297244" y="3765764"/>
            <a:ext cx="1746665" cy="343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chemeClr val="tx1"/>
                </a:solidFill>
              </a:rPr>
              <a:t>Substitution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CE3F03C-BCCB-48E0-5982-D164D9C2E710}"/>
              </a:ext>
            </a:extLst>
          </p:cNvPr>
          <p:cNvSpPr/>
          <p:nvPr/>
        </p:nvSpPr>
        <p:spPr>
          <a:xfrm>
            <a:off x="2007665" y="4616372"/>
            <a:ext cx="2325824" cy="343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chemeClr val="tx1"/>
                </a:solidFill>
              </a:rPr>
              <a:t>monoalphabetisch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2FE8B8-016C-988F-F01F-FFD67E5E334A}"/>
              </a:ext>
            </a:extLst>
          </p:cNvPr>
          <p:cNvSpPr/>
          <p:nvPr/>
        </p:nvSpPr>
        <p:spPr>
          <a:xfrm>
            <a:off x="2365923" y="5466980"/>
            <a:ext cx="1609306" cy="3435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 err="1">
                <a:solidFill>
                  <a:schemeClr val="tx1"/>
                </a:solidFill>
              </a:rPr>
              <a:t>Bsp</a:t>
            </a:r>
            <a:r>
              <a:rPr lang="de-CH" sz="2000" dirty="0">
                <a:solidFill>
                  <a:schemeClr val="tx1"/>
                </a:solidFill>
              </a:rPr>
              <a:t>: Caesar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2DD7BEB7-2527-98B7-6E8A-335800F71D52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3170577" y="3086945"/>
            <a:ext cx="2794663" cy="6788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37F73D6D-A328-43A9-34E1-15518C55A6B1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3170577" y="4109343"/>
            <a:ext cx="0" cy="507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B8AD3735-5844-5D1F-AEFA-D51E7936B868}"/>
              </a:ext>
            </a:extLst>
          </p:cNvPr>
          <p:cNvSpPr/>
          <p:nvPr/>
        </p:nvSpPr>
        <p:spPr>
          <a:xfrm>
            <a:off x="8016535" y="5466980"/>
            <a:ext cx="1609306" cy="3435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 err="1">
                <a:solidFill>
                  <a:schemeClr val="tx1"/>
                </a:solidFill>
              </a:rPr>
              <a:t>Bsp</a:t>
            </a:r>
            <a:r>
              <a:rPr lang="de-CH" sz="2000" dirty="0">
                <a:solidFill>
                  <a:schemeClr val="tx1"/>
                </a:solidFill>
              </a:rPr>
              <a:t>: </a:t>
            </a:r>
            <a:r>
              <a:rPr lang="de-CH" sz="2000" dirty="0" err="1">
                <a:solidFill>
                  <a:schemeClr val="tx1"/>
                </a:solidFill>
              </a:rPr>
              <a:t>Skytale</a:t>
            </a:r>
            <a:endParaRPr lang="de-CH" sz="2000" dirty="0">
              <a:solidFill>
                <a:schemeClr val="tx1"/>
              </a:solidFill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22E1B629-EDE2-5889-1B37-A7B77D80FAA9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>
            <a:off x="8821188" y="4064295"/>
            <a:ext cx="0" cy="14026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el 1">
            <a:extLst>
              <a:ext uri="{FF2B5EF4-FFF2-40B4-BE49-F238E27FC236}">
                <a16:creationId xmlns:a16="http://schemas.microsoft.com/office/drawing/2014/main" id="{A12F8DC8-9DD7-E227-F278-C8441683B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Heute (Ausblick)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172ABD6-6BFC-D993-9425-BAAEACA0BB1A}"/>
              </a:ext>
            </a:extLst>
          </p:cNvPr>
          <p:cNvSpPr txBox="1"/>
          <p:nvPr/>
        </p:nvSpPr>
        <p:spPr>
          <a:xfrm>
            <a:off x="2203407" y="1807518"/>
            <a:ext cx="7523666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CH" sz="2000" dirty="0"/>
              <a:t>Annahme: Sender und Empfänger besitzen den gleichen Schlüssel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0DF79F1B-40A9-F449-066E-734C0E5E3295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965240" y="2207628"/>
            <a:ext cx="0" cy="5357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C5E49607-2BE1-59D4-6DF0-FC4F4AAD5308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 flipH="1">
            <a:off x="3170576" y="4959951"/>
            <a:ext cx="1" cy="507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2C9A7A58-4AEF-045D-A0A6-E1573D9DEE57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5965240" y="3086945"/>
            <a:ext cx="2855948" cy="6337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513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2DBA8-8CCE-241B-80F3-2546FDD3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56C821-F1FB-03BF-0B87-FF085368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Transposition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545E45-4D57-ABA5-814B-279CF17B3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de-DE" sz="3300" b="1" dirty="0"/>
              <a:t>Kurz: </a:t>
            </a:r>
            <a:r>
              <a:rPr lang="de-DE" sz="3300" dirty="0"/>
              <a:t>Alle Buchstaben im Klartext und Geheimtext bleiben gleich,</a:t>
            </a:r>
            <a:br>
              <a:rPr lang="de-DE" sz="3300" dirty="0"/>
            </a:br>
            <a:r>
              <a:rPr lang="de-DE" sz="3300" dirty="0"/>
              <a:t>            aber tanzen durcheinander! </a:t>
            </a:r>
            <a:br>
              <a:rPr lang="de-DE" dirty="0"/>
            </a:br>
            <a:endParaRPr lang="de-DE" dirty="0"/>
          </a:p>
          <a:p>
            <a:pPr marL="914400" lvl="1" indent="-457200">
              <a:buFont typeface="+mj-lt"/>
              <a:buAutoNum type="arabicPeriod"/>
            </a:pPr>
            <a:r>
              <a:rPr lang="de-DE" sz="3500" dirty="0"/>
              <a:t>FRODGRUB</a:t>
            </a:r>
            <a:br>
              <a:rPr lang="de-CH" sz="3500" dirty="0"/>
            </a:br>
            <a:endParaRPr lang="de-CH" sz="3500" dirty="0"/>
          </a:p>
          <a:p>
            <a:pPr marL="914400" lvl="1" indent="-457200">
              <a:buFont typeface="+mj-lt"/>
              <a:buAutoNum type="arabicPeriod"/>
            </a:pPr>
            <a:endParaRPr lang="de-CH" sz="3500" dirty="0"/>
          </a:p>
          <a:p>
            <a:pPr marL="914400" lvl="1" indent="-457200">
              <a:buFont typeface="+mj-lt"/>
              <a:buAutoNum type="arabicPeriod"/>
            </a:pPr>
            <a:endParaRPr lang="de-CH" sz="3500" dirty="0"/>
          </a:p>
          <a:p>
            <a:pPr marL="914400" lvl="1" indent="-457200">
              <a:buFont typeface="+mj-lt"/>
              <a:buAutoNum type="arabicPeriod"/>
            </a:pPr>
            <a:r>
              <a:rPr lang="de-CH" sz="3500" dirty="0"/>
              <a:t>EPAGHSTTI</a:t>
            </a:r>
            <a:br>
              <a:rPr lang="de-DE" sz="3500" dirty="0"/>
            </a:br>
            <a:endParaRPr lang="de-DE" sz="3500" dirty="0"/>
          </a:p>
          <a:p>
            <a:pPr marL="914400" lvl="1" indent="-457200">
              <a:buFont typeface="+mj-lt"/>
              <a:buAutoNum type="arabicPeriod"/>
            </a:pPr>
            <a:endParaRPr lang="de-DE" sz="3500" dirty="0"/>
          </a:p>
          <a:p>
            <a:pPr marL="914400" lvl="1" indent="-457200">
              <a:buFont typeface="+mj-lt"/>
              <a:buAutoNum type="arabicPeriod"/>
            </a:pPr>
            <a:endParaRPr lang="de-DE" sz="3500" dirty="0"/>
          </a:p>
          <a:p>
            <a:pPr marL="914400" lvl="1" indent="-457200">
              <a:buFont typeface="+mj-lt"/>
              <a:buAutoNum type="arabicPeriod"/>
            </a:pPr>
            <a:r>
              <a:rPr lang="de-CH" sz="3500" dirty="0"/>
              <a:t>SRNPTEAAR</a:t>
            </a:r>
          </a:p>
          <a:p>
            <a:pPr marL="914400" lvl="1" indent="-457200">
              <a:buFont typeface="+mj-lt"/>
              <a:buAutoNum type="arabicPeriod"/>
            </a:pPr>
            <a:endParaRPr lang="de-DE" dirty="0"/>
          </a:p>
          <a:p>
            <a:pPr marL="914400" lvl="1" indent="-457200">
              <a:buFont typeface="+mj-lt"/>
              <a:buAutoNum type="arabicPeriod"/>
            </a:pPr>
            <a:endParaRPr lang="de-CH" dirty="0"/>
          </a:p>
          <a:p>
            <a:pPr marL="914400" lvl="1" indent="-457200">
              <a:buFont typeface="+mj-lt"/>
              <a:buAutoNum type="arabicPeriod"/>
            </a:pPr>
            <a:endParaRPr lang="de-DE" dirty="0"/>
          </a:p>
          <a:p>
            <a:endParaRPr lang="de-CH" dirty="0"/>
          </a:p>
        </p:txBody>
      </p:sp>
      <p:pic>
        <p:nvPicPr>
          <p:cNvPr id="2050" name="Picture 2" descr="🍝 Spaghetti Emoji: Meaning &amp; Usage">
            <a:extLst>
              <a:ext uri="{FF2B5EF4-FFF2-40B4-BE49-F238E27FC236}">
                <a16:creationId xmlns:a16="http://schemas.microsoft.com/office/drawing/2014/main" id="{CB27A4F0-ACB3-6B2F-FA40-B573D9FFB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156" y="3866357"/>
            <a:ext cx="1393613" cy="125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tadt Burgdorf - Schloss und Altstadt">
            <a:extLst>
              <a:ext uri="{FF2B5EF4-FFF2-40B4-BE49-F238E27FC236}">
                <a16:creationId xmlns:a16="http://schemas.microsoft.com/office/drawing/2014/main" id="{A0CBF292-78C9-64D3-62B6-CD0B7F8B4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423" y="2548345"/>
            <a:ext cx="1961080" cy="131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300 gefallene Spartaner | Geschichte">
            <a:extLst>
              <a:ext uri="{FF2B5EF4-FFF2-40B4-BE49-F238E27FC236}">
                <a16:creationId xmlns:a16="http://schemas.microsoft.com/office/drawing/2014/main" id="{84B8CC8D-7830-D7B7-16D0-4FDD4C1C1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424" y="5236026"/>
            <a:ext cx="2094950" cy="125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35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37C2C7-ECB1-036A-5A7A-E75F9E35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Transpositionsverschlüsselung</a:t>
            </a:r>
            <a:br>
              <a:rPr lang="de-CH" dirty="0"/>
            </a:br>
            <a:r>
              <a:rPr lang="de-CH" dirty="0"/>
              <a:t>Arbeitsblatt: </a:t>
            </a:r>
            <a:r>
              <a:rPr lang="de-CH" dirty="0" err="1"/>
              <a:t>Skytale</a:t>
            </a:r>
            <a:endParaRPr lang="de-CH" dirty="0"/>
          </a:p>
        </p:txBody>
      </p:sp>
      <p:pic>
        <p:nvPicPr>
          <p:cNvPr id="4" name="Grafik 3" descr="Cunning und Cunninger – Geschichte der Militärchiffren (1)">
            <a:extLst>
              <a:ext uri="{FF2B5EF4-FFF2-40B4-BE49-F238E27FC236}">
                <a16:creationId xmlns:a16="http://schemas.microsoft.com/office/drawing/2014/main" id="{3DE1526F-0D9B-5D5A-F043-110814BDA9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438" y="2523236"/>
            <a:ext cx="4194915" cy="2574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4" descr="Stoppuhr mit einfarbiger Füllung">
            <a:extLst>
              <a:ext uri="{FF2B5EF4-FFF2-40B4-BE49-F238E27FC236}">
                <a16:creationId xmlns:a16="http://schemas.microsoft.com/office/drawing/2014/main" id="{C911E5CD-5816-ADEB-806A-A5CBEE951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2487" y="570706"/>
            <a:ext cx="914400" cy="9144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053BDF2-8B98-6FD7-49EB-48DB902FF37A}"/>
              </a:ext>
            </a:extLst>
          </p:cNvPr>
          <p:cNvSpPr txBox="1"/>
          <p:nvPr/>
        </p:nvSpPr>
        <p:spPr>
          <a:xfrm>
            <a:off x="9916887" y="688412"/>
            <a:ext cx="1741714" cy="707886"/>
          </a:xfrm>
          <a:prstGeom prst="rect">
            <a:avLst/>
          </a:prstGeom>
          <a:noFill/>
          <a:ln w="317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sz="2000" b="1" dirty="0"/>
              <a:t>10 Minuten</a:t>
            </a:r>
          </a:p>
          <a:p>
            <a:r>
              <a:rPr lang="de-CH" sz="2000" b="1" dirty="0"/>
              <a:t>Einzelarbeit</a:t>
            </a:r>
          </a:p>
        </p:txBody>
      </p:sp>
    </p:spTree>
    <p:extLst>
      <p:ext uri="{BB962C8B-B14F-4D97-AF65-F5344CB8AC3E}">
        <p14:creationId xmlns:p14="http://schemas.microsoft.com/office/powerpoint/2010/main" val="4137541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E704E-DAD9-567D-2910-960AD7877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5344EE2-77EC-5CC4-3FCE-BA0D5C975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09613"/>
              </p:ext>
            </p:extLst>
          </p:nvPr>
        </p:nvGraphicFramePr>
        <p:xfrm>
          <a:off x="5737337" y="1514475"/>
          <a:ext cx="5035057" cy="4978400"/>
        </p:xfrm>
        <a:graphic>
          <a:graphicData uri="http://schemas.openxmlformats.org/drawingml/2006/table">
            <a:tbl>
              <a:tblPr firstRow="1">
                <a:tableStyleId>{17292A2E-F333-43FB-9621-5CBBE7FDCDCB}</a:tableStyleId>
              </a:tblPr>
              <a:tblGrid>
                <a:gridCol w="1013770">
                  <a:extLst>
                    <a:ext uri="{9D8B030D-6E8A-4147-A177-3AD203B41FA5}">
                      <a16:colId xmlns:a16="http://schemas.microsoft.com/office/drawing/2014/main" val="1868316363"/>
                    </a:ext>
                  </a:extLst>
                </a:gridCol>
                <a:gridCol w="1013770">
                  <a:extLst>
                    <a:ext uri="{9D8B030D-6E8A-4147-A177-3AD203B41FA5}">
                      <a16:colId xmlns:a16="http://schemas.microsoft.com/office/drawing/2014/main" val="348230254"/>
                    </a:ext>
                  </a:extLst>
                </a:gridCol>
                <a:gridCol w="3007517">
                  <a:extLst>
                    <a:ext uri="{9D8B030D-6E8A-4147-A177-3AD203B41FA5}">
                      <a16:colId xmlns:a16="http://schemas.microsoft.com/office/drawing/2014/main" val="2289328910"/>
                    </a:ext>
                  </a:extLst>
                </a:gridCol>
              </a:tblGrid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Spalten</a:t>
                      </a:r>
                      <a:endParaRPr lang="de-CH" sz="20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Zeilen</a:t>
                      </a:r>
                      <a:endParaRPr lang="de-CH" sz="20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Entschlüsselte Nachricht</a:t>
                      </a:r>
                      <a:endParaRPr lang="de-CH" sz="20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435400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728123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279891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767415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060394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942296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4469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344741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01936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829304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22894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046081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718675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815035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23332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16159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02EA5C3E-FE1A-5ECF-232E-5DFF96ADDD79}"/>
              </a:ext>
            </a:extLst>
          </p:cNvPr>
          <p:cNvSpPr txBox="1"/>
          <p:nvPr/>
        </p:nvSpPr>
        <p:spPr>
          <a:xfrm>
            <a:off x="838199" y="1514475"/>
            <a:ext cx="44297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/>
              <a:t>Kryptoanalyse der </a:t>
            </a:r>
            <a:r>
              <a:rPr lang="de-DE" sz="2000" b="1" dirty="0" err="1"/>
              <a:t>Skytale</a:t>
            </a:r>
            <a:r>
              <a:rPr lang="de-DE" sz="2000" b="1" dirty="0"/>
              <a:t>:</a:t>
            </a:r>
            <a:br>
              <a:rPr lang="de-DE" sz="2000" dirty="0"/>
            </a:br>
            <a:r>
              <a:rPr lang="de-DE" sz="2000" dirty="0"/>
              <a:t>Man probiert alle möglichen Durchmesser aus, d.h. alle möglichen Spaltenanzahlen im </a:t>
            </a:r>
            <a:r>
              <a:rPr lang="de-DE" sz="2000" i="1" dirty="0"/>
              <a:t>Raster</a:t>
            </a:r>
            <a:r>
              <a:rPr lang="de-DE" sz="2000" dirty="0"/>
              <a:t>. </a:t>
            </a:r>
            <a:br>
              <a:rPr lang="de-DE" sz="2000" dirty="0"/>
            </a:br>
            <a:r>
              <a:rPr lang="de-DE" sz="2000" dirty="0"/>
              <a:t>Um den Klartext zu erhalten, schreibt man jeweils den Geheimtext spaltenweise in das Raster und liest die Nachricht dann zeilenweise aus.</a:t>
            </a:r>
            <a:endParaRPr lang="de-CH" sz="2000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63F0E621-D111-833B-CF26-F798C8D667C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2400" dirty="0" err="1"/>
              <a:t>Skytale</a:t>
            </a:r>
            <a:r>
              <a:rPr lang="de-CH" sz="2400" dirty="0"/>
              <a:t> Geheimtext </a:t>
            </a:r>
            <a:r>
              <a:rPr lang="de-CH" sz="2400" b="1" dirty="0"/>
              <a:t>«DPSKMIEEOEERRMN» </a:t>
            </a:r>
            <a:r>
              <a:rPr lang="de-CH" sz="2400" dirty="0"/>
              <a:t>entschlüsseln ohne Schlüssel </a:t>
            </a:r>
          </a:p>
        </p:txBody>
      </p:sp>
    </p:spTree>
    <p:extLst>
      <p:ext uri="{BB962C8B-B14F-4D97-AF65-F5344CB8AC3E}">
        <p14:creationId xmlns:p14="http://schemas.microsoft.com/office/powerpoint/2010/main" val="38167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E5F55DEE-C4CF-1263-4B5E-8647EBC4B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21982"/>
              </p:ext>
            </p:extLst>
          </p:nvPr>
        </p:nvGraphicFramePr>
        <p:xfrm>
          <a:off x="5737337" y="1514475"/>
          <a:ext cx="5035057" cy="4978400"/>
        </p:xfrm>
        <a:graphic>
          <a:graphicData uri="http://schemas.openxmlformats.org/drawingml/2006/table">
            <a:tbl>
              <a:tblPr firstRow="1">
                <a:tableStyleId>{17292A2E-F333-43FB-9621-5CBBE7FDCDCB}</a:tableStyleId>
              </a:tblPr>
              <a:tblGrid>
                <a:gridCol w="1013770">
                  <a:extLst>
                    <a:ext uri="{9D8B030D-6E8A-4147-A177-3AD203B41FA5}">
                      <a16:colId xmlns:a16="http://schemas.microsoft.com/office/drawing/2014/main" val="1868316363"/>
                    </a:ext>
                  </a:extLst>
                </a:gridCol>
                <a:gridCol w="1013770">
                  <a:extLst>
                    <a:ext uri="{9D8B030D-6E8A-4147-A177-3AD203B41FA5}">
                      <a16:colId xmlns:a16="http://schemas.microsoft.com/office/drawing/2014/main" val="348230254"/>
                    </a:ext>
                  </a:extLst>
                </a:gridCol>
                <a:gridCol w="3007517">
                  <a:extLst>
                    <a:ext uri="{9D8B030D-6E8A-4147-A177-3AD203B41FA5}">
                      <a16:colId xmlns:a16="http://schemas.microsoft.com/office/drawing/2014/main" val="2289328910"/>
                    </a:ext>
                  </a:extLst>
                </a:gridCol>
              </a:tblGrid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Spalten</a:t>
                      </a:r>
                      <a:endParaRPr lang="de-CH" sz="20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Zeilen</a:t>
                      </a:r>
                      <a:endParaRPr lang="de-CH" sz="20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Entschlüsselte Nachricht</a:t>
                      </a:r>
                      <a:endParaRPr lang="de-CH" sz="20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435400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DPSKMIEEOEERRMN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728123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DOPESEKRMRIMENE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279891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DIEPERSERKOMMEN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767415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DMORPIEMSEENKER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060394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DKEERPMEEMSIORN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942296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DKEERMPMEERNSIO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74469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DKIEERMPMEOERNS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344741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DSMEOERNPKIEERM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01936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DSMEOERMNPKIEER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829304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DSMEOERRMNPKIEE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22894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DSMEOEERRMNPKIE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046081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DSMEEOEERRMNPKI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718675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DSMIEEOEERRMNPK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815035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DSKMIEEOEERRMNP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23332"/>
                  </a:ext>
                </a:extLst>
              </a:tr>
              <a:tr h="292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DPSKMIEEOEERRMN</a:t>
                      </a:r>
                      <a:endParaRPr lang="de-CH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16159"/>
                  </a:ext>
                </a:extLst>
              </a:tr>
            </a:tbl>
          </a:graphicData>
        </a:graphic>
      </p:graphicFrame>
      <p:sp>
        <p:nvSpPr>
          <p:cNvPr id="12" name="Titel 1">
            <a:extLst>
              <a:ext uri="{FF2B5EF4-FFF2-40B4-BE49-F238E27FC236}">
                <a16:creationId xmlns:a16="http://schemas.microsoft.com/office/drawing/2014/main" id="{D1C21858-2205-E51A-70FF-624F0D94FF1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2400" dirty="0" err="1"/>
              <a:t>Skytale</a:t>
            </a:r>
            <a:r>
              <a:rPr lang="de-CH" sz="2400" dirty="0"/>
              <a:t> Geheimtext </a:t>
            </a:r>
            <a:r>
              <a:rPr lang="de-CH" sz="2400" b="1" dirty="0"/>
              <a:t>«DPSKMIEEOEERRMN» </a:t>
            </a:r>
            <a:r>
              <a:rPr lang="de-CH" sz="2400" dirty="0"/>
              <a:t>entschlüsseln ohne Schlüssel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2AB4D6A-B34C-354E-5D8C-10604F8E7F6F}"/>
              </a:ext>
            </a:extLst>
          </p:cNvPr>
          <p:cNvSpPr txBox="1"/>
          <p:nvPr/>
        </p:nvSpPr>
        <p:spPr>
          <a:xfrm>
            <a:off x="838199" y="1514475"/>
            <a:ext cx="44297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/>
              <a:t>Kryptoanalyse der </a:t>
            </a:r>
            <a:r>
              <a:rPr lang="de-DE" sz="2000" b="1" dirty="0" err="1"/>
              <a:t>Skytale</a:t>
            </a:r>
            <a:r>
              <a:rPr lang="de-DE" sz="2000" b="1" dirty="0"/>
              <a:t>:</a:t>
            </a:r>
            <a:br>
              <a:rPr lang="de-DE" sz="2000" dirty="0"/>
            </a:br>
            <a:r>
              <a:rPr lang="de-DE" sz="2000" dirty="0"/>
              <a:t>Man probiert alle möglichen Durchmesser aus, d.h. alle möglichen Spaltenanzahlen im </a:t>
            </a:r>
            <a:r>
              <a:rPr lang="de-DE" sz="2000" i="1" dirty="0"/>
              <a:t>Raster</a:t>
            </a:r>
            <a:r>
              <a:rPr lang="de-DE" sz="2000" dirty="0"/>
              <a:t>. </a:t>
            </a:r>
            <a:br>
              <a:rPr lang="de-DE" sz="2000" dirty="0"/>
            </a:br>
            <a:r>
              <a:rPr lang="de-DE" sz="2000" dirty="0"/>
              <a:t>Um den Klartext zu erhalten, schreibt man jeweils den Geheimtext spaltenweise in das Raster und liest die Nachricht dann zeilenweise aus.</a:t>
            </a:r>
            <a:endParaRPr lang="de-CH" sz="2000" dirty="0"/>
          </a:p>
        </p:txBody>
      </p:sp>
    </p:spTree>
    <p:extLst>
      <p:ext uri="{BB962C8B-B14F-4D97-AF65-F5344CB8AC3E}">
        <p14:creationId xmlns:p14="http://schemas.microsoft.com/office/powerpoint/2010/main" val="1677556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064E28-3303-B93D-EF60-4FA75FBA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Transposition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E644AD-0C3F-780D-0B81-C3E8EFDE7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47832" cy="4820708"/>
          </a:xfrm>
        </p:spPr>
        <p:txBody>
          <a:bodyPr>
            <a:normAutofit fontScale="85000" lnSpcReduction="10000"/>
          </a:bodyPr>
          <a:lstStyle/>
          <a:p>
            <a:r>
              <a:rPr lang="de-DE" sz="2400" dirty="0"/>
              <a:t>Eine Vertauschungsregel der Zeichen kann auch als </a:t>
            </a:r>
            <a:r>
              <a:rPr lang="de-DE" sz="2400" b="1" dirty="0"/>
              <a:t>Permutation (Schlüssel) </a:t>
            </a:r>
            <a:r>
              <a:rPr lang="de-DE" sz="2400" dirty="0"/>
              <a:t>notiert werden:</a:t>
            </a:r>
          </a:p>
          <a:p>
            <a:pPr lvl="1"/>
            <a:endParaRPr lang="de-DE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DE" dirty="0"/>
          </a:p>
          <a:p>
            <a:endParaRPr lang="de-CH" sz="2400" dirty="0"/>
          </a:p>
          <a:p>
            <a:pPr marL="0" indent="0">
              <a:buNone/>
            </a:pPr>
            <a:br>
              <a:rPr lang="de-CH" sz="2400" dirty="0"/>
            </a:br>
            <a:endParaRPr lang="de-CH" sz="2400" dirty="0"/>
          </a:p>
          <a:p>
            <a:endParaRPr lang="de-CH" sz="2400" b="1" dirty="0"/>
          </a:p>
          <a:p>
            <a:r>
              <a:rPr lang="de-CH" sz="2400" b="1" dirty="0"/>
              <a:t>Inverse Permutation: </a:t>
            </a:r>
            <a:r>
              <a:rPr lang="de-CH" sz="2400" dirty="0"/>
              <a:t>An welcher Position im Schlüssel steht die 1?  </a:t>
            </a:r>
            <a:r>
              <a:rPr lang="de-CH" sz="2400" b="1" dirty="0">
                <a:solidFill>
                  <a:schemeClr val="accent1"/>
                </a:solidFill>
              </a:rPr>
              <a:t>3. Position</a:t>
            </a:r>
            <a:br>
              <a:rPr lang="de-CH" sz="2400" dirty="0"/>
            </a:br>
            <a:r>
              <a:rPr lang="de-CH" sz="2400" dirty="0"/>
              <a:t>Dann, an welcher Position im Schlüssel steht die 2? </a:t>
            </a:r>
            <a:r>
              <a:rPr lang="de-CH" sz="2400" b="1" dirty="0">
                <a:solidFill>
                  <a:schemeClr val="accent1"/>
                </a:solidFill>
              </a:rPr>
              <a:t>4. Position</a:t>
            </a:r>
            <a:r>
              <a:rPr lang="de-CH" sz="2400" dirty="0"/>
              <a:t>, usw. </a:t>
            </a:r>
            <a:r>
              <a:rPr lang="de-CH" sz="2400" b="1" dirty="0">
                <a:solidFill>
                  <a:schemeClr val="accent1"/>
                </a:solidFill>
              </a:rPr>
              <a:t>-&gt; (3,4,1,5,2)</a:t>
            </a:r>
          </a:p>
          <a:p>
            <a:r>
              <a:rPr lang="de-DE" sz="2400" dirty="0"/>
              <a:t>Bei längeren Nachrichten würde eine solche direkte Permutation und somit der Schlüssel sehr lang werden, sodass das Verfahren </a:t>
            </a:r>
            <a:r>
              <a:rPr lang="de-DE" sz="2400" b="1" dirty="0"/>
              <a:t>unpraktikabel</a:t>
            </a:r>
            <a:r>
              <a:rPr lang="de-DE" sz="2400" dirty="0"/>
              <a:t> wird. </a:t>
            </a:r>
            <a:br>
              <a:rPr lang="de-DE" sz="2400" dirty="0"/>
            </a:br>
            <a:r>
              <a:rPr lang="de-DE" sz="2400" dirty="0"/>
              <a:t>-&gt; Stattdessen kann eine Permutation auf die Reihenfolge angewendet werden, in der die Spalten bei einem </a:t>
            </a:r>
            <a:r>
              <a:rPr lang="de-DE" sz="2400" b="1" dirty="0"/>
              <a:t>Spalten-Transpositionsverfahren</a:t>
            </a:r>
            <a:r>
              <a:rPr lang="de-DE" sz="2400" dirty="0"/>
              <a:t> (z. B. </a:t>
            </a:r>
            <a:r>
              <a:rPr lang="de-DE" sz="2400" dirty="0" err="1"/>
              <a:t>Skytale</a:t>
            </a:r>
            <a:r>
              <a:rPr lang="de-DE" sz="2400" dirty="0"/>
              <a:t>) ausgelesen werden.</a:t>
            </a:r>
            <a:endParaRPr lang="de-CH" sz="2400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E1F0812F-CE8A-9226-F32B-A8F775E2A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536551"/>
              </p:ext>
            </p:extLst>
          </p:nvPr>
        </p:nvGraphicFramePr>
        <p:xfrm>
          <a:off x="3596382" y="2112261"/>
          <a:ext cx="5331468" cy="2415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3504">
                  <a:extLst>
                    <a:ext uri="{9D8B030D-6E8A-4147-A177-3AD203B41FA5}">
                      <a16:colId xmlns:a16="http://schemas.microsoft.com/office/drawing/2014/main" val="283648727"/>
                    </a:ext>
                  </a:extLst>
                </a:gridCol>
                <a:gridCol w="415348">
                  <a:extLst>
                    <a:ext uri="{9D8B030D-6E8A-4147-A177-3AD203B41FA5}">
                      <a16:colId xmlns:a16="http://schemas.microsoft.com/office/drawing/2014/main" val="2946067197"/>
                    </a:ext>
                  </a:extLst>
                </a:gridCol>
                <a:gridCol w="418154">
                  <a:extLst>
                    <a:ext uri="{9D8B030D-6E8A-4147-A177-3AD203B41FA5}">
                      <a16:colId xmlns:a16="http://schemas.microsoft.com/office/drawing/2014/main" val="4157744150"/>
                    </a:ext>
                  </a:extLst>
                </a:gridCol>
                <a:gridCol w="418154">
                  <a:extLst>
                    <a:ext uri="{9D8B030D-6E8A-4147-A177-3AD203B41FA5}">
                      <a16:colId xmlns:a16="http://schemas.microsoft.com/office/drawing/2014/main" val="2088405465"/>
                    </a:ext>
                  </a:extLst>
                </a:gridCol>
                <a:gridCol w="418154">
                  <a:extLst>
                    <a:ext uri="{9D8B030D-6E8A-4147-A177-3AD203B41FA5}">
                      <a16:colId xmlns:a16="http://schemas.microsoft.com/office/drawing/2014/main" val="1014526461"/>
                    </a:ext>
                  </a:extLst>
                </a:gridCol>
                <a:gridCol w="418154">
                  <a:extLst>
                    <a:ext uri="{9D8B030D-6E8A-4147-A177-3AD203B41FA5}">
                      <a16:colId xmlns:a16="http://schemas.microsoft.com/office/drawing/2014/main" val="3301463627"/>
                    </a:ext>
                  </a:extLst>
                </a:gridCol>
              </a:tblGrid>
              <a:tr h="3866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Position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1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2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3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4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5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16096"/>
                  </a:ext>
                </a:extLst>
              </a:tr>
              <a:tr h="3866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Klartext (Sender)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H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A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L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L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O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04297"/>
                  </a:ext>
                </a:extLst>
              </a:tr>
              <a:tr h="3866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Permutation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3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5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1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2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4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271147"/>
                  </a:ext>
                </a:extLst>
              </a:tr>
              <a:tr h="3866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Geheimtext 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L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>
                          <a:effectLst/>
                        </a:rPr>
                        <a:t>L</a:t>
                      </a:r>
                      <a:endParaRPr lang="de-CH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H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O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A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016228"/>
                  </a:ext>
                </a:extLst>
              </a:tr>
              <a:tr h="3866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Inverse Permutation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3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4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1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5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2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338398"/>
                  </a:ext>
                </a:extLst>
              </a:tr>
              <a:tr h="3866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Klartext (Empfänger)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>
                          <a:effectLst/>
                        </a:rPr>
                        <a:t>H</a:t>
                      </a:r>
                      <a:endParaRPr lang="de-CH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>
                          <a:effectLst/>
                        </a:rPr>
                        <a:t>A</a:t>
                      </a:r>
                      <a:endParaRPr lang="de-CH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>
                          <a:effectLst/>
                        </a:rPr>
                        <a:t>L</a:t>
                      </a:r>
                      <a:endParaRPr lang="de-CH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L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CH" sz="2600" b="0" u="none" strike="noStrike" dirty="0">
                          <a:effectLst/>
                        </a:rPr>
                        <a:t>O</a:t>
                      </a:r>
                      <a:endParaRPr lang="de-CH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000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37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D6B1-57D1-2AC0-56B5-454AECF16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4F26BD-6553-CDAA-BDBC-18C6E3884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Spaltentransposition + Permutation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A07DAC-ABE8-06F5-9F3C-1CA306EF0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973312" cy="482070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de-CH" sz="2100" dirty="0"/>
              <a:t>Schlüssel bestimmen: z.B. </a:t>
            </a:r>
            <a:r>
              <a:rPr lang="de-CH" sz="2100" b="1" dirty="0"/>
              <a:t>KEY </a:t>
            </a:r>
          </a:p>
          <a:p>
            <a:pPr marL="457200" indent="-457200">
              <a:buFont typeface="+mj-lt"/>
              <a:buAutoNum type="arabicPeriod"/>
            </a:pPr>
            <a:r>
              <a:rPr lang="de-CH" sz="2100" dirty="0"/>
              <a:t>Schlüssel alphabetisch sortieren: </a:t>
            </a:r>
            <a:r>
              <a:rPr lang="de-CH" sz="2100" b="1" dirty="0"/>
              <a:t>EKY -&gt; Permutation = (2,1,3) </a:t>
            </a:r>
          </a:p>
          <a:p>
            <a:pPr marL="457200" indent="-457200">
              <a:buFont typeface="+mj-lt"/>
              <a:buAutoNum type="arabicPeriod"/>
            </a:pPr>
            <a:r>
              <a:rPr lang="de-CH" sz="2100" dirty="0"/>
              <a:t>Text zeilenweise ins Raster schreiben mit Anz. Spalten = Schlüssellänge</a:t>
            </a:r>
          </a:p>
          <a:p>
            <a:pPr marL="457200" indent="-457200">
              <a:buFont typeface="+mj-lt"/>
              <a:buAutoNum type="arabicPeriod"/>
            </a:pPr>
            <a:r>
              <a:rPr lang="de-CH" sz="2100" dirty="0"/>
              <a:t>Danach </a:t>
            </a:r>
            <a:r>
              <a:rPr lang="de-CH" sz="2100" b="1" dirty="0"/>
              <a:t>2.</a:t>
            </a:r>
            <a:r>
              <a:rPr lang="de-CH" sz="2100" dirty="0"/>
              <a:t> Spalte, dann </a:t>
            </a:r>
            <a:r>
              <a:rPr lang="de-CH" sz="2100" b="1" dirty="0"/>
              <a:t>1. </a:t>
            </a:r>
            <a:r>
              <a:rPr lang="de-CH" sz="2100" dirty="0"/>
              <a:t>Spalte und dann </a:t>
            </a:r>
            <a:r>
              <a:rPr lang="de-CH" sz="2100" b="1" dirty="0"/>
              <a:t>3.</a:t>
            </a:r>
            <a:r>
              <a:rPr lang="de-CH" sz="2100" dirty="0"/>
              <a:t> Spalte auslesen:</a:t>
            </a:r>
          </a:p>
          <a:p>
            <a:pPr marL="457200" indent="-457200">
              <a:buFont typeface="+mj-lt"/>
              <a:buAutoNum type="arabicPeriod"/>
            </a:pPr>
            <a:endParaRPr lang="de-CH" sz="2100" dirty="0"/>
          </a:p>
          <a:p>
            <a:pPr marL="457200" indent="-457200">
              <a:buFont typeface="+mj-lt"/>
              <a:buAutoNum type="arabicPeriod"/>
            </a:pPr>
            <a:endParaRPr lang="de-CH" sz="2100" dirty="0"/>
          </a:p>
          <a:p>
            <a:pPr marL="457200" indent="-457200">
              <a:buFont typeface="+mj-lt"/>
              <a:buAutoNum type="arabicPeriod"/>
            </a:pPr>
            <a:r>
              <a:rPr lang="de-CH" sz="2100" dirty="0"/>
              <a:t>Der Empfänger schreibt den Geheimtext in der Reihenfolge der Permutation in die Spalten vom Raster (und liest wieder zeilenweise aus) </a:t>
            </a:r>
          </a:p>
          <a:p>
            <a:endParaRPr lang="de-DE" sz="2000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19DE274B-F94D-408F-06C5-76200DC44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443018"/>
              </p:ext>
            </p:extLst>
          </p:nvPr>
        </p:nvGraphicFramePr>
        <p:xfrm>
          <a:off x="9939240" y="1617536"/>
          <a:ext cx="1512000" cy="302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48401082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67854499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96564538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de-CH" sz="22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7743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46152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22628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9412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65974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539935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6E2EF398-81F3-8A99-CCD7-670B70D9B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795194"/>
              </p:ext>
            </p:extLst>
          </p:nvPr>
        </p:nvGraphicFramePr>
        <p:xfrm>
          <a:off x="1416000" y="3510755"/>
          <a:ext cx="2340000" cy="4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21249152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89852681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51712480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96601850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981399525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410849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2254F45-2EFF-866E-208D-7720D770D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234048"/>
              </p:ext>
            </p:extLst>
          </p:nvPr>
        </p:nvGraphicFramePr>
        <p:xfrm>
          <a:off x="3756000" y="3510755"/>
          <a:ext cx="2340000" cy="4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107753081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07234878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453457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82073320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78152492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410849"/>
                  </a:ext>
                </a:extLst>
              </a:tr>
            </a:tbl>
          </a:graphicData>
        </a:graphic>
      </p:graphicFrame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075FE2D6-4AD9-3D17-F009-A98A4DE8D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446310"/>
              </p:ext>
            </p:extLst>
          </p:nvPr>
        </p:nvGraphicFramePr>
        <p:xfrm>
          <a:off x="6096000" y="3510755"/>
          <a:ext cx="2340000" cy="4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23448640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5655920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9830383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77436001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14484735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40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410849"/>
                  </a:ext>
                </a:extLst>
              </a:tr>
            </a:tbl>
          </a:graphicData>
        </a:graphic>
      </p:graphicFrame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2E5DDC-F324-0E95-B6E5-87CA73CA6EB9}"/>
              </a:ext>
            </a:extLst>
          </p:cNvPr>
          <p:cNvSpPr txBox="1">
            <a:spLocks/>
          </p:cNvSpPr>
          <p:nvPr/>
        </p:nvSpPr>
        <p:spPr>
          <a:xfrm>
            <a:off x="838199" y="5089592"/>
            <a:ext cx="10741503" cy="1403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100" dirty="0"/>
              <a:t>Das </a:t>
            </a:r>
            <a:r>
              <a:rPr lang="de-DE" sz="2100" b="1" dirty="0"/>
              <a:t>Knacken</a:t>
            </a:r>
            <a:r>
              <a:rPr lang="de-DE" sz="2100" dirty="0"/>
              <a:t> (ohne Schlüssel) dieses kombinierten Transpositionsverfahrens ist </a:t>
            </a:r>
            <a:r>
              <a:rPr lang="de-DE" sz="2100" i="1" dirty="0"/>
              <a:t>wesentlich aufwendiger </a:t>
            </a:r>
            <a:r>
              <a:rPr lang="de-DE" sz="2100" dirty="0"/>
              <a:t>als bei der einfachen </a:t>
            </a:r>
            <a:r>
              <a:rPr lang="de-CH" sz="2100" b="1" dirty="0"/>
              <a:t>Spaltentransposition</a:t>
            </a:r>
            <a:r>
              <a:rPr lang="de-CH" sz="2100" dirty="0"/>
              <a:t> (z. B. </a:t>
            </a:r>
            <a:r>
              <a:rPr lang="de-DE" sz="2100" dirty="0" err="1"/>
              <a:t>Skytale</a:t>
            </a:r>
            <a:r>
              <a:rPr lang="de-DE" sz="2100" dirty="0"/>
              <a:t>), da man </a:t>
            </a:r>
            <a:r>
              <a:rPr lang="de-DE" sz="2100" i="1" dirty="0"/>
              <a:t>zusätzlich</a:t>
            </a:r>
            <a:r>
              <a:rPr lang="de-DE" sz="2100" dirty="0"/>
              <a:t> für jede mögliche Spaltenanzahl (unbekannte Schlüssellänge) alle denkbaren Reihenfolgen, in denen die Spalten ausgelesen werden könnten, durchtesten muss.</a:t>
            </a:r>
          </a:p>
        </p:txBody>
      </p:sp>
    </p:spTree>
    <p:extLst>
      <p:ext uri="{BB962C8B-B14F-4D97-AF65-F5344CB8AC3E}">
        <p14:creationId xmlns:p14="http://schemas.microsoft.com/office/powerpoint/2010/main" val="351872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A0A12A-DB09-C4A0-7AAB-86C3C0E3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Lernziele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CA76C5-584C-649E-6068-BCD5CEB67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124"/>
            <a:ext cx="10515600" cy="47748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CH" sz="1800" dirty="0"/>
              <a:t>Die Lernenden…</a:t>
            </a:r>
            <a:endParaRPr lang="de-CH" sz="1800" b="1" dirty="0"/>
          </a:p>
          <a:p>
            <a:pPr lvl="0">
              <a:buFont typeface="Wingdings" pitchFamily="2" charset="2"/>
              <a:buChar char="Ø"/>
            </a:pPr>
            <a:r>
              <a:rPr lang="de-CH" sz="1800" dirty="0"/>
              <a:t>erkennen die Bedeutung von Verschlüsselung im Alltag, indem sie Beispiele aus ihrem Umfeld nennen, um die Relevanz von Informationssicherheit zu verstehen.</a:t>
            </a:r>
            <a:endParaRPr lang="de-CH" sz="1800" b="1" dirty="0"/>
          </a:p>
          <a:p>
            <a:pPr lvl="0">
              <a:buFont typeface="Wingdings" pitchFamily="2" charset="2"/>
              <a:buChar char="Ø"/>
            </a:pPr>
            <a:r>
              <a:rPr lang="de-CH" sz="1800" dirty="0"/>
              <a:t>verstehen die Grundlagen der Kryptographie, indem sie die Begriffe Klartext, Geheimtext, Schlüssel und Verschlüsselung anhand von einfachen Verschlüsselungsverfahren erklären.</a:t>
            </a:r>
            <a:endParaRPr lang="de-CH" sz="1800" b="1" dirty="0"/>
          </a:p>
          <a:p>
            <a:pPr lvl="0">
              <a:buFont typeface="Wingdings" pitchFamily="2" charset="2"/>
              <a:buChar char="Ø"/>
            </a:pPr>
            <a:r>
              <a:rPr lang="de-CH" sz="1800" dirty="0"/>
              <a:t>wenden einfache Transpositionsverfahren manuell an, um Nachrichten zu verschlüsseln und entschlüsseln, und erfahren so die Prinzipien der Spaltentransposition und Permutation</a:t>
            </a:r>
            <a:endParaRPr lang="de-CH" sz="1800" b="1" dirty="0"/>
          </a:p>
          <a:p>
            <a:pPr lvl="0">
              <a:buFont typeface="Wingdings" pitchFamily="2" charset="2"/>
              <a:buChar char="Ø"/>
            </a:pPr>
            <a:r>
              <a:rPr lang="de-CH" sz="1800" dirty="0"/>
              <a:t>wenden die Caesar-Verschlüsselung an, indem sie einen gemeinsamen Schlüssel im Vorfeld austauschen und eigene Nachrichten verschlüsseln und entschlüsseln, um die Funktionsweise symmetrischer Substitutions-Verschlüsselungsverfahren praktisch zu erfahren.</a:t>
            </a:r>
            <a:endParaRPr lang="de-CH" sz="1800" b="1" dirty="0"/>
          </a:p>
          <a:p>
            <a:pPr lvl="0">
              <a:buFont typeface="Wingdings" pitchFamily="2" charset="2"/>
              <a:buChar char="Ø"/>
            </a:pPr>
            <a:r>
              <a:rPr lang="de-CH" sz="1800" dirty="0"/>
              <a:t>können Transpositions- von Substitutionsverfahren unterscheiden.</a:t>
            </a:r>
            <a:endParaRPr lang="de-CH" sz="1800" b="1" dirty="0"/>
          </a:p>
          <a:p>
            <a:pPr lvl="0">
              <a:buFont typeface="Wingdings" pitchFamily="2" charset="2"/>
              <a:buChar char="Ø"/>
            </a:pPr>
            <a:r>
              <a:rPr lang="de-CH" sz="1800" dirty="0"/>
              <a:t>analysieren die Schwächen der </a:t>
            </a:r>
            <a:r>
              <a:rPr lang="de-CH" sz="1800" dirty="0" err="1"/>
              <a:t>Skytale</a:t>
            </a:r>
            <a:r>
              <a:rPr lang="de-CH" sz="1800" dirty="0"/>
              <a:t> und Caesar-Verschlüsselung und kennen die Brute-Force-Methode</a:t>
            </a:r>
            <a:endParaRPr lang="de-CH" sz="1800" b="1" dirty="0"/>
          </a:p>
          <a:p>
            <a:pPr lvl="0">
              <a:buFont typeface="Wingdings" pitchFamily="2" charset="2"/>
              <a:buChar char="Ø"/>
            </a:pPr>
            <a:r>
              <a:rPr lang="de-CH" sz="1800" dirty="0"/>
              <a:t>analysieren die Schwächen der monoalphabetischen Verschlüsselung und können Geheimtexte mithilfe der Häufigkeitsanalyse knacken </a:t>
            </a:r>
            <a:endParaRPr lang="de-CH" sz="1800" b="1" dirty="0"/>
          </a:p>
        </p:txBody>
      </p:sp>
    </p:spTree>
    <p:extLst>
      <p:ext uri="{BB962C8B-B14F-4D97-AF65-F5344CB8AC3E}">
        <p14:creationId xmlns:p14="http://schemas.microsoft.com/office/powerpoint/2010/main" val="2840135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06811-8A82-8F6C-0A4B-C1EA6A91C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7D2B66D7-32D1-B6B9-999B-CF45D211FDAD}"/>
              </a:ext>
            </a:extLst>
          </p:cNvPr>
          <p:cNvSpPr/>
          <p:nvPr/>
        </p:nvSpPr>
        <p:spPr>
          <a:xfrm>
            <a:off x="4043909" y="2743366"/>
            <a:ext cx="3842661" cy="343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chemeClr val="tx1"/>
                </a:solidFill>
              </a:rPr>
              <a:t>Symmetrische Verschlüsselung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E016809-891C-26FE-3953-38CB5A1448A6}"/>
              </a:ext>
            </a:extLst>
          </p:cNvPr>
          <p:cNvSpPr/>
          <p:nvPr/>
        </p:nvSpPr>
        <p:spPr>
          <a:xfrm>
            <a:off x="7886570" y="3720716"/>
            <a:ext cx="1869235" cy="343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chemeClr val="tx1"/>
                </a:solidFill>
              </a:rPr>
              <a:t>Transposition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C378E7C-FEC1-208E-7BAD-6C57E0280271}"/>
              </a:ext>
            </a:extLst>
          </p:cNvPr>
          <p:cNvSpPr/>
          <p:nvPr/>
        </p:nvSpPr>
        <p:spPr>
          <a:xfrm>
            <a:off x="2297244" y="3765764"/>
            <a:ext cx="1746665" cy="343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chemeClr val="tx1"/>
                </a:solidFill>
              </a:rPr>
              <a:t>Substitution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AC1D4F0-3460-D16C-8BCF-912F14BE97C2}"/>
              </a:ext>
            </a:extLst>
          </p:cNvPr>
          <p:cNvSpPr/>
          <p:nvPr/>
        </p:nvSpPr>
        <p:spPr>
          <a:xfrm>
            <a:off x="2007665" y="4616372"/>
            <a:ext cx="2325824" cy="343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chemeClr val="tx1"/>
                </a:solidFill>
              </a:rPr>
              <a:t>monoalphabetisch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C45D0-E574-1B27-3532-EDC65A42F183}"/>
              </a:ext>
            </a:extLst>
          </p:cNvPr>
          <p:cNvSpPr/>
          <p:nvPr/>
        </p:nvSpPr>
        <p:spPr>
          <a:xfrm>
            <a:off x="2365923" y="5466980"/>
            <a:ext cx="1609306" cy="3435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 err="1">
                <a:solidFill>
                  <a:schemeClr val="tx1"/>
                </a:solidFill>
              </a:rPr>
              <a:t>Bsp</a:t>
            </a:r>
            <a:r>
              <a:rPr lang="de-CH" sz="2000" dirty="0">
                <a:solidFill>
                  <a:schemeClr val="tx1"/>
                </a:solidFill>
              </a:rPr>
              <a:t>: Caesar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4AFEF16B-B1B7-DB10-B442-CEF08132002D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3170577" y="3086945"/>
            <a:ext cx="2794663" cy="6788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35ECB47-240F-78C9-0717-E11A5C6CC45D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3170577" y="4109343"/>
            <a:ext cx="0" cy="507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783FDA1E-3AB5-0E57-BFDB-F09CF5DF6DCC}"/>
              </a:ext>
            </a:extLst>
          </p:cNvPr>
          <p:cNvSpPr/>
          <p:nvPr/>
        </p:nvSpPr>
        <p:spPr>
          <a:xfrm>
            <a:off x="8016534" y="5466980"/>
            <a:ext cx="1609306" cy="3435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 err="1">
                <a:solidFill>
                  <a:schemeClr val="tx1"/>
                </a:solidFill>
              </a:rPr>
              <a:t>Bsp</a:t>
            </a:r>
            <a:r>
              <a:rPr lang="de-CH" sz="2000" dirty="0">
                <a:solidFill>
                  <a:schemeClr val="tx1"/>
                </a:solidFill>
              </a:rPr>
              <a:t>: </a:t>
            </a:r>
            <a:r>
              <a:rPr lang="de-CH" sz="2000" dirty="0" err="1">
                <a:solidFill>
                  <a:schemeClr val="tx1"/>
                </a:solidFill>
              </a:rPr>
              <a:t>Skytale</a:t>
            </a:r>
            <a:endParaRPr lang="de-CH" sz="2000" dirty="0">
              <a:solidFill>
                <a:schemeClr val="tx1"/>
              </a:solidFill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70FE847D-6D84-0E22-9A12-3E86D5533BDF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 flipH="1">
            <a:off x="8821187" y="4064295"/>
            <a:ext cx="1" cy="14026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el 1">
            <a:extLst>
              <a:ext uri="{FF2B5EF4-FFF2-40B4-BE49-F238E27FC236}">
                <a16:creationId xmlns:a16="http://schemas.microsoft.com/office/drawing/2014/main" id="{EB15EF8B-040C-7BFC-2611-3A5F5E63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CH" dirty="0"/>
              <a:t>Heute (Ausblick)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FC73B8C-ED7D-A6BA-B2AA-8E61A87AD5E5}"/>
              </a:ext>
            </a:extLst>
          </p:cNvPr>
          <p:cNvSpPr txBox="1"/>
          <p:nvPr/>
        </p:nvSpPr>
        <p:spPr>
          <a:xfrm>
            <a:off x="2610934" y="1802786"/>
            <a:ext cx="670861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Annahme: Sender und Empfänger besitzen den gleichen Schlüssel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F21582C-5A24-2E76-AEC3-20F2AFFCBC6E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965240" y="2172118"/>
            <a:ext cx="0" cy="5712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FFACD878-AEA6-D992-0698-8977E4B2F07F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 flipH="1">
            <a:off x="3170576" y="4959951"/>
            <a:ext cx="1" cy="507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9F437A6D-760A-E9D1-6FA8-C9EE98BDA8D7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5965240" y="3086945"/>
            <a:ext cx="2855948" cy="6337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308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26EB3-FCC0-2E40-32E7-2BCF3629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Monoalphabetische Substitution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255FB1-1AC5-C175-0FFF-EE5BE1DE7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Monoalphabetische Substitution (Ersetzung) der Buchstaben im </a:t>
            </a:r>
            <a:r>
              <a:rPr lang="de-CH" dirty="0">
                <a:solidFill>
                  <a:srgbClr val="0070C0"/>
                </a:solidFill>
              </a:rPr>
              <a:t>Klartextalphabet</a:t>
            </a:r>
            <a:r>
              <a:rPr lang="de-CH" dirty="0"/>
              <a:t> durch Buchstaben im </a:t>
            </a:r>
            <a:r>
              <a:rPr lang="de-CH" dirty="0">
                <a:solidFill>
                  <a:srgbClr val="C00000"/>
                </a:solidFill>
              </a:rPr>
              <a:t>Geheimalphabet</a:t>
            </a:r>
          </a:p>
          <a:p>
            <a:endParaRPr lang="de-CH" dirty="0"/>
          </a:p>
          <a:p>
            <a:r>
              <a:rPr lang="de-CH" dirty="0"/>
              <a:t>Spezialfall</a:t>
            </a:r>
            <a:r>
              <a:rPr lang="de-CH" b="1" dirty="0"/>
              <a:t>: Ceasar</a:t>
            </a:r>
            <a:r>
              <a:rPr lang="de-CH" dirty="0"/>
              <a:t>-Verschlüsselung mit Verschiebung = 3</a:t>
            </a:r>
          </a:p>
          <a:p>
            <a:endParaRPr lang="de-CH" dirty="0"/>
          </a:p>
          <a:p>
            <a:endParaRPr lang="de-CH" dirty="0"/>
          </a:p>
        </p:txBody>
      </p: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26B51DFA-233F-4215-86F8-2673C4F69EA2}"/>
              </a:ext>
            </a:extLst>
          </p:cNvPr>
          <p:cNvGrpSpPr/>
          <p:nvPr/>
        </p:nvGrpSpPr>
        <p:grpSpPr>
          <a:xfrm>
            <a:off x="2254433" y="5230586"/>
            <a:ext cx="8280000" cy="360000"/>
            <a:chOff x="2263820" y="5336722"/>
            <a:chExt cx="8280000" cy="360000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0CBE11B3-A32B-7CCD-BD9C-FD4766FCD360}"/>
                </a:ext>
              </a:extLst>
            </p:cNvPr>
            <p:cNvSpPr/>
            <p:nvPr/>
          </p:nvSpPr>
          <p:spPr>
            <a:xfrm>
              <a:off x="226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099BDB3A-EF3B-C84B-A170-92274BEA0BE8}"/>
                </a:ext>
              </a:extLst>
            </p:cNvPr>
            <p:cNvSpPr/>
            <p:nvPr/>
          </p:nvSpPr>
          <p:spPr>
            <a:xfrm>
              <a:off x="262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4B89E447-37DD-2A15-B9E6-8F6EE34965BD}"/>
                </a:ext>
              </a:extLst>
            </p:cNvPr>
            <p:cNvSpPr/>
            <p:nvPr/>
          </p:nvSpPr>
          <p:spPr>
            <a:xfrm>
              <a:off x="298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D2A990C5-F492-CAAE-07F8-847CCFED5085}"/>
                </a:ext>
              </a:extLst>
            </p:cNvPr>
            <p:cNvSpPr/>
            <p:nvPr/>
          </p:nvSpPr>
          <p:spPr>
            <a:xfrm>
              <a:off x="334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65228BD8-3FC3-837E-AB86-BD3E1FAD1F6C}"/>
                </a:ext>
              </a:extLst>
            </p:cNvPr>
            <p:cNvSpPr/>
            <p:nvPr/>
          </p:nvSpPr>
          <p:spPr>
            <a:xfrm>
              <a:off x="370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1CBBCF8B-1C5E-F872-6E82-E34AB9BA1A1A}"/>
                </a:ext>
              </a:extLst>
            </p:cNvPr>
            <p:cNvSpPr/>
            <p:nvPr/>
          </p:nvSpPr>
          <p:spPr>
            <a:xfrm>
              <a:off x="406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DDB2C972-A425-F7B1-5745-4ECB89116871}"/>
                </a:ext>
              </a:extLst>
            </p:cNvPr>
            <p:cNvSpPr/>
            <p:nvPr/>
          </p:nvSpPr>
          <p:spPr>
            <a:xfrm>
              <a:off x="442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BE35CE9B-332C-E6BA-6D8A-01F8C1AB4E42}"/>
                </a:ext>
              </a:extLst>
            </p:cNvPr>
            <p:cNvSpPr/>
            <p:nvPr/>
          </p:nvSpPr>
          <p:spPr>
            <a:xfrm>
              <a:off x="478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98137D9B-5EAE-FC0F-0FD9-AE95AF6319D9}"/>
                </a:ext>
              </a:extLst>
            </p:cNvPr>
            <p:cNvSpPr/>
            <p:nvPr/>
          </p:nvSpPr>
          <p:spPr>
            <a:xfrm>
              <a:off x="514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BAE3D3C1-92F3-D4E5-A03E-8236E9375AB7}"/>
                </a:ext>
              </a:extLst>
            </p:cNvPr>
            <p:cNvSpPr/>
            <p:nvPr/>
          </p:nvSpPr>
          <p:spPr>
            <a:xfrm>
              <a:off x="550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785F8A2A-C9E0-EDA4-FDBD-F12B8C187C13}"/>
                </a:ext>
              </a:extLst>
            </p:cNvPr>
            <p:cNvSpPr/>
            <p:nvPr/>
          </p:nvSpPr>
          <p:spPr>
            <a:xfrm>
              <a:off x="586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5816EDA1-43F9-F5B7-F736-D633E3483F7B}"/>
                </a:ext>
              </a:extLst>
            </p:cNvPr>
            <p:cNvSpPr/>
            <p:nvPr/>
          </p:nvSpPr>
          <p:spPr>
            <a:xfrm>
              <a:off x="622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BCD698DE-AED2-31BD-F628-7B55E7414598}"/>
                </a:ext>
              </a:extLst>
            </p:cNvPr>
            <p:cNvSpPr/>
            <p:nvPr/>
          </p:nvSpPr>
          <p:spPr>
            <a:xfrm>
              <a:off x="658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09A32E3C-E6F0-D635-CF9D-356CBD8AB18D}"/>
                </a:ext>
              </a:extLst>
            </p:cNvPr>
            <p:cNvSpPr/>
            <p:nvPr/>
          </p:nvSpPr>
          <p:spPr>
            <a:xfrm>
              <a:off x="694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C2EE05F0-ADAB-381E-C6E3-98D2CFFAB15E}"/>
                </a:ext>
              </a:extLst>
            </p:cNvPr>
            <p:cNvSpPr/>
            <p:nvPr/>
          </p:nvSpPr>
          <p:spPr>
            <a:xfrm>
              <a:off x="730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3E0FC563-6E0E-8720-72FD-BE134C832477}"/>
                </a:ext>
              </a:extLst>
            </p:cNvPr>
            <p:cNvSpPr/>
            <p:nvPr/>
          </p:nvSpPr>
          <p:spPr>
            <a:xfrm>
              <a:off x="766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C82B4877-2F5C-B9D6-557B-60E230A094B1}"/>
                </a:ext>
              </a:extLst>
            </p:cNvPr>
            <p:cNvSpPr/>
            <p:nvPr/>
          </p:nvSpPr>
          <p:spPr>
            <a:xfrm>
              <a:off x="802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EF2C3071-4D73-6D5B-07A7-E897EC31EEB0}"/>
                </a:ext>
              </a:extLst>
            </p:cNvPr>
            <p:cNvSpPr/>
            <p:nvPr/>
          </p:nvSpPr>
          <p:spPr>
            <a:xfrm>
              <a:off x="838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7B2AA7CF-CA02-E2EC-93CE-55C85FF7C8F7}"/>
                </a:ext>
              </a:extLst>
            </p:cNvPr>
            <p:cNvSpPr/>
            <p:nvPr/>
          </p:nvSpPr>
          <p:spPr>
            <a:xfrm>
              <a:off x="874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B55C6137-A362-CB1B-4255-B66949B541D5}"/>
                </a:ext>
              </a:extLst>
            </p:cNvPr>
            <p:cNvSpPr/>
            <p:nvPr/>
          </p:nvSpPr>
          <p:spPr>
            <a:xfrm>
              <a:off x="910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94A4A4D1-AFF3-77BD-A329-4697078BC02A}"/>
                </a:ext>
              </a:extLst>
            </p:cNvPr>
            <p:cNvSpPr/>
            <p:nvPr/>
          </p:nvSpPr>
          <p:spPr>
            <a:xfrm>
              <a:off x="946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A1944FC0-439A-571F-8C73-FA6E5A86D79B}"/>
                </a:ext>
              </a:extLst>
            </p:cNvPr>
            <p:cNvSpPr/>
            <p:nvPr/>
          </p:nvSpPr>
          <p:spPr>
            <a:xfrm>
              <a:off x="982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3053F121-305E-B7C6-40B8-8F5BAE731D1E}"/>
                </a:ext>
              </a:extLst>
            </p:cNvPr>
            <p:cNvSpPr/>
            <p:nvPr/>
          </p:nvSpPr>
          <p:spPr>
            <a:xfrm>
              <a:off x="10183820" y="533672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Z</a:t>
              </a:r>
            </a:p>
          </p:txBody>
        </p:sp>
      </p:grp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9B4DE84E-9213-A430-3ADA-0160F5573F3C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1363820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30B3CBE5-3F01-44B5-78E2-E20B8D5E613C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1723820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2DF1F421-7CE5-20AA-C426-B244E2F3ADEA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2083820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4C74DA51-46A1-DCB3-B6B2-AC7EA053C67B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2443820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0EAA5510-3951-6C4A-5829-A35AE58253BC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2803820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0A38B7FF-374C-ED85-11E1-88845842A1A6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3163820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3CD9FF02-A80D-6AF5-B264-F4015FDBC161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3523820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495CC435-3E7B-CD6B-647A-03AD86034AF1}"/>
              </a:ext>
            </a:extLst>
          </p:cNvPr>
          <p:cNvCxnSpPr>
            <a:endCxn id="46" idx="0"/>
          </p:cNvCxnSpPr>
          <p:nvPr/>
        </p:nvCxnSpPr>
        <p:spPr>
          <a:xfrm>
            <a:off x="3883820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0A9F6947-1D6E-1FCF-BD79-314E9F166F7B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243820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733B74CA-E929-6ABB-F2C3-F76C383AECF7}"/>
              </a:ext>
            </a:extLst>
          </p:cNvPr>
          <p:cNvCxnSpPr>
            <a:endCxn id="48" idx="0"/>
          </p:cNvCxnSpPr>
          <p:nvPr/>
        </p:nvCxnSpPr>
        <p:spPr>
          <a:xfrm>
            <a:off x="4603820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5116B7E7-A37C-8098-E56C-53C5ADBF8943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4963820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AB78ACEA-4CB2-8966-67BC-6AA79230FCC7}"/>
              </a:ext>
            </a:extLst>
          </p:cNvPr>
          <p:cNvCxnSpPr>
            <a:cxnSpLocks/>
          </p:cNvCxnSpPr>
          <p:nvPr/>
        </p:nvCxnSpPr>
        <p:spPr>
          <a:xfrm>
            <a:off x="5305046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14454BEE-4311-7B62-0EA5-82C795BA7191}"/>
              </a:ext>
            </a:extLst>
          </p:cNvPr>
          <p:cNvCxnSpPr>
            <a:cxnSpLocks/>
          </p:cNvCxnSpPr>
          <p:nvPr/>
        </p:nvCxnSpPr>
        <p:spPr>
          <a:xfrm>
            <a:off x="5665046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89D19AF1-6969-1783-B867-8F5E215D1AAA}"/>
              </a:ext>
            </a:extLst>
          </p:cNvPr>
          <p:cNvCxnSpPr>
            <a:cxnSpLocks/>
          </p:cNvCxnSpPr>
          <p:nvPr/>
        </p:nvCxnSpPr>
        <p:spPr>
          <a:xfrm>
            <a:off x="6025046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01494F7-3011-34F7-F2B1-F4A231BA5FD2}"/>
              </a:ext>
            </a:extLst>
          </p:cNvPr>
          <p:cNvCxnSpPr>
            <a:cxnSpLocks/>
          </p:cNvCxnSpPr>
          <p:nvPr/>
        </p:nvCxnSpPr>
        <p:spPr>
          <a:xfrm>
            <a:off x="6385046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9F9177DB-20FC-5660-6B69-40ECBAE66B46}"/>
              </a:ext>
            </a:extLst>
          </p:cNvPr>
          <p:cNvCxnSpPr>
            <a:cxnSpLocks/>
          </p:cNvCxnSpPr>
          <p:nvPr/>
        </p:nvCxnSpPr>
        <p:spPr>
          <a:xfrm>
            <a:off x="6745046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CFE86E92-DFD1-0B8E-C6D3-4EEEF4319130}"/>
              </a:ext>
            </a:extLst>
          </p:cNvPr>
          <p:cNvCxnSpPr>
            <a:cxnSpLocks/>
          </p:cNvCxnSpPr>
          <p:nvPr/>
        </p:nvCxnSpPr>
        <p:spPr>
          <a:xfrm>
            <a:off x="7105046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FF8DCF31-DDE1-7804-E41F-CB74CED817AF}"/>
              </a:ext>
            </a:extLst>
          </p:cNvPr>
          <p:cNvCxnSpPr>
            <a:cxnSpLocks/>
          </p:cNvCxnSpPr>
          <p:nvPr/>
        </p:nvCxnSpPr>
        <p:spPr>
          <a:xfrm>
            <a:off x="7465046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AF77647-1CC7-5973-2C14-5F224199B0C1}"/>
              </a:ext>
            </a:extLst>
          </p:cNvPr>
          <p:cNvCxnSpPr>
            <a:cxnSpLocks/>
          </p:cNvCxnSpPr>
          <p:nvPr/>
        </p:nvCxnSpPr>
        <p:spPr>
          <a:xfrm>
            <a:off x="7825046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 Verbindung mit Pfeil 96">
            <a:extLst>
              <a:ext uri="{FF2B5EF4-FFF2-40B4-BE49-F238E27FC236}">
                <a16:creationId xmlns:a16="http://schemas.microsoft.com/office/drawing/2014/main" id="{AFA64AA9-6E7A-CA14-7E77-D2F0D037D61E}"/>
              </a:ext>
            </a:extLst>
          </p:cNvPr>
          <p:cNvCxnSpPr>
            <a:cxnSpLocks/>
          </p:cNvCxnSpPr>
          <p:nvPr/>
        </p:nvCxnSpPr>
        <p:spPr>
          <a:xfrm>
            <a:off x="8185046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E5DC3E9A-AE59-BCCC-0437-BA44A1A7A67D}"/>
              </a:ext>
            </a:extLst>
          </p:cNvPr>
          <p:cNvCxnSpPr>
            <a:cxnSpLocks/>
          </p:cNvCxnSpPr>
          <p:nvPr/>
        </p:nvCxnSpPr>
        <p:spPr>
          <a:xfrm>
            <a:off x="8545046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19EBB20A-4590-CDFE-DB6E-6765CDDC5C40}"/>
              </a:ext>
            </a:extLst>
          </p:cNvPr>
          <p:cNvCxnSpPr>
            <a:cxnSpLocks/>
          </p:cNvCxnSpPr>
          <p:nvPr/>
        </p:nvCxnSpPr>
        <p:spPr>
          <a:xfrm>
            <a:off x="8905046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Gerade Verbindung mit Pfeil 100">
            <a:extLst>
              <a:ext uri="{FF2B5EF4-FFF2-40B4-BE49-F238E27FC236}">
                <a16:creationId xmlns:a16="http://schemas.microsoft.com/office/drawing/2014/main" id="{7A39F5D4-34A6-1692-4AF6-EF8101D21EF2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9283820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hteck 120">
            <a:extLst>
              <a:ext uri="{FF2B5EF4-FFF2-40B4-BE49-F238E27FC236}">
                <a16:creationId xmlns:a16="http://schemas.microsoft.com/office/drawing/2014/main" id="{1DAB7A87-150C-5F38-BFF8-07CB672E1C13}"/>
              </a:ext>
            </a:extLst>
          </p:cNvPr>
          <p:cNvSpPr/>
          <p:nvPr/>
        </p:nvSpPr>
        <p:spPr>
          <a:xfrm>
            <a:off x="10533966" y="5230586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3873F7D7-1425-6E89-8B14-5406A6E13BFD}"/>
              </a:ext>
            </a:extLst>
          </p:cNvPr>
          <p:cNvSpPr/>
          <p:nvPr/>
        </p:nvSpPr>
        <p:spPr>
          <a:xfrm>
            <a:off x="10893966" y="5230586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29DFEAA0-89C9-8428-8476-9CB4135201DE}"/>
              </a:ext>
            </a:extLst>
          </p:cNvPr>
          <p:cNvSpPr/>
          <p:nvPr/>
        </p:nvSpPr>
        <p:spPr>
          <a:xfrm>
            <a:off x="11253966" y="5230586"/>
            <a:ext cx="36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39B9B05A-2B19-5333-BBA1-B5909491595D}"/>
              </a:ext>
            </a:extLst>
          </p:cNvPr>
          <p:cNvCxnSpPr/>
          <p:nvPr/>
        </p:nvCxnSpPr>
        <p:spPr>
          <a:xfrm>
            <a:off x="9625046" y="4376830"/>
            <a:ext cx="1070613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Gerade Verbindung mit Pfeil 125">
            <a:extLst>
              <a:ext uri="{FF2B5EF4-FFF2-40B4-BE49-F238E27FC236}">
                <a16:creationId xmlns:a16="http://schemas.microsoft.com/office/drawing/2014/main" id="{D9F26806-86EC-5785-AD5E-047005F628C5}"/>
              </a:ext>
            </a:extLst>
          </p:cNvPr>
          <p:cNvCxnSpPr>
            <a:cxnSpLocks/>
            <a:endCxn id="122" idx="0"/>
          </p:cNvCxnSpPr>
          <p:nvPr/>
        </p:nvCxnSpPr>
        <p:spPr>
          <a:xfrm>
            <a:off x="10003820" y="4376830"/>
            <a:ext cx="1070146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922F810A-626A-1A47-1CBC-891E86B826D8}"/>
              </a:ext>
            </a:extLst>
          </p:cNvPr>
          <p:cNvCxnSpPr>
            <a:cxnSpLocks/>
            <a:endCxn id="123" idx="0"/>
          </p:cNvCxnSpPr>
          <p:nvPr/>
        </p:nvCxnSpPr>
        <p:spPr>
          <a:xfrm>
            <a:off x="10363820" y="4376830"/>
            <a:ext cx="1070146" cy="853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28B7E215-33D8-F74B-7D36-CF81EB5D6826}"/>
              </a:ext>
            </a:extLst>
          </p:cNvPr>
          <p:cNvSpPr txBox="1"/>
          <p:nvPr/>
        </p:nvSpPr>
        <p:spPr>
          <a:xfrm>
            <a:off x="1109080" y="5992297"/>
            <a:ext cx="7614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b="1" dirty="0"/>
              <a:t>Schlüssel: </a:t>
            </a:r>
            <a:r>
              <a:rPr lang="de-CH" sz="2000" dirty="0"/>
              <a:t>DEFGHIJKLMNOPQRSTUVWXYZABC oder einfach «3» </a:t>
            </a:r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8BF9D469-9CAF-469B-85B8-F12097EBFC7C}"/>
              </a:ext>
            </a:extLst>
          </p:cNvPr>
          <p:cNvGrpSpPr/>
          <p:nvPr/>
        </p:nvGrpSpPr>
        <p:grpSpPr>
          <a:xfrm>
            <a:off x="1183820" y="4016830"/>
            <a:ext cx="9360000" cy="360000"/>
            <a:chOff x="1183820" y="4294415"/>
            <a:chExt cx="9360000" cy="3600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8BB430CA-C63E-E853-6AD1-8FF2A8BBA6BA}"/>
                </a:ext>
              </a:extLst>
            </p:cNvPr>
            <p:cNvSpPr/>
            <p:nvPr/>
          </p:nvSpPr>
          <p:spPr>
            <a:xfrm>
              <a:off x="118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8B34A5D2-FC4A-2D9B-4443-6469F6AE82A3}"/>
                </a:ext>
              </a:extLst>
            </p:cNvPr>
            <p:cNvSpPr/>
            <p:nvPr/>
          </p:nvSpPr>
          <p:spPr>
            <a:xfrm>
              <a:off x="154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3836C09C-4F4A-6805-507D-E315AC51A477}"/>
                </a:ext>
              </a:extLst>
            </p:cNvPr>
            <p:cNvSpPr/>
            <p:nvPr/>
          </p:nvSpPr>
          <p:spPr>
            <a:xfrm>
              <a:off x="190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E2CB81B3-C8C3-B33F-E027-5D13CDF3EC49}"/>
                </a:ext>
              </a:extLst>
            </p:cNvPr>
            <p:cNvSpPr/>
            <p:nvPr/>
          </p:nvSpPr>
          <p:spPr>
            <a:xfrm>
              <a:off x="226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9A4A2501-E474-E697-453B-AC8ECA13AC45}"/>
                </a:ext>
              </a:extLst>
            </p:cNvPr>
            <p:cNvSpPr/>
            <p:nvPr/>
          </p:nvSpPr>
          <p:spPr>
            <a:xfrm>
              <a:off x="262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43A20E0-5F10-FE74-4A30-FC3E51A8D0E4}"/>
                </a:ext>
              </a:extLst>
            </p:cNvPr>
            <p:cNvSpPr/>
            <p:nvPr/>
          </p:nvSpPr>
          <p:spPr>
            <a:xfrm>
              <a:off x="298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31329BA2-0D7D-AA25-53DA-E86CAE947726}"/>
                </a:ext>
              </a:extLst>
            </p:cNvPr>
            <p:cNvSpPr/>
            <p:nvPr/>
          </p:nvSpPr>
          <p:spPr>
            <a:xfrm>
              <a:off x="334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C59677BE-93E2-6016-4D92-16FD7236C0A4}"/>
                </a:ext>
              </a:extLst>
            </p:cNvPr>
            <p:cNvSpPr/>
            <p:nvPr/>
          </p:nvSpPr>
          <p:spPr>
            <a:xfrm>
              <a:off x="370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131A4D6C-D8D9-B61A-18BA-D9FE6354D594}"/>
                </a:ext>
              </a:extLst>
            </p:cNvPr>
            <p:cNvSpPr/>
            <p:nvPr/>
          </p:nvSpPr>
          <p:spPr>
            <a:xfrm>
              <a:off x="406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19046D07-6B11-6C2C-B10F-5BAE9D8C0A4A}"/>
                </a:ext>
              </a:extLst>
            </p:cNvPr>
            <p:cNvSpPr/>
            <p:nvPr/>
          </p:nvSpPr>
          <p:spPr>
            <a:xfrm>
              <a:off x="442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DE8FA9E1-BDEC-BA15-233B-563785D1AC46}"/>
                </a:ext>
              </a:extLst>
            </p:cNvPr>
            <p:cNvSpPr/>
            <p:nvPr/>
          </p:nvSpPr>
          <p:spPr>
            <a:xfrm>
              <a:off x="478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1B1959F3-2C6A-7B5A-38C5-44718F222185}"/>
                </a:ext>
              </a:extLst>
            </p:cNvPr>
            <p:cNvSpPr/>
            <p:nvPr/>
          </p:nvSpPr>
          <p:spPr>
            <a:xfrm>
              <a:off x="514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E0122900-5AA3-9413-6AA9-0EEA6DE07B9B}"/>
                </a:ext>
              </a:extLst>
            </p:cNvPr>
            <p:cNvSpPr/>
            <p:nvPr/>
          </p:nvSpPr>
          <p:spPr>
            <a:xfrm>
              <a:off x="550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5DD25A05-82E5-85B8-9B27-EB50DC5FDD33}"/>
                </a:ext>
              </a:extLst>
            </p:cNvPr>
            <p:cNvSpPr/>
            <p:nvPr/>
          </p:nvSpPr>
          <p:spPr>
            <a:xfrm>
              <a:off x="586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7FA754A9-9DEE-90DB-08BE-C46464005989}"/>
                </a:ext>
              </a:extLst>
            </p:cNvPr>
            <p:cNvSpPr/>
            <p:nvPr/>
          </p:nvSpPr>
          <p:spPr>
            <a:xfrm>
              <a:off x="622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F4CA4949-D233-8D2C-D5DE-467839E2D49A}"/>
                </a:ext>
              </a:extLst>
            </p:cNvPr>
            <p:cNvSpPr/>
            <p:nvPr/>
          </p:nvSpPr>
          <p:spPr>
            <a:xfrm>
              <a:off x="658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D0243942-F4B5-6F80-C8BD-CC4B033BE0B7}"/>
                </a:ext>
              </a:extLst>
            </p:cNvPr>
            <p:cNvSpPr/>
            <p:nvPr/>
          </p:nvSpPr>
          <p:spPr>
            <a:xfrm>
              <a:off x="694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71933A81-6B2D-C507-AF37-C4215A6E8DC5}"/>
                </a:ext>
              </a:extLst>
            </p:cNvPr>
            <p:cNvSpPr/>
            <p:nvPr/>
          </p:nvSpPr>
          <p:spPr>
            <a:xfrm>
              <a:off x="730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C96DDB28-C09A-84B5-8DA0-26D65F0E3755}"/>
                </a:ext>
              </a:extLst>
            </p:cNvPr>
            <p:cNvSpPr/>
            <p:nvPr/>
          </p:nvSpPr>
          <p:spPr>
            <a:xfrm>
              <a:off x="766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B8E8F5DE-6264-A01E-4775-A934CD56D55C}"/>
                </a:ext>
              </a:extLst>
            </p:cNvPr>
            <p:cNvSpPr/>
            <p:nvPr/>
          </p:nvSpPr>
          <p:spPr>
            <a:xfrm>
              <a:off x="802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4909624D-21F3-5353-09E9-0401888B9855}"/>
                </a:ext>
              </a:extLst>
            </p:cNvPr>
            <p:cNvSpPr/>
            <p:nvPr/>
          </p:nvSpPr>
          <p:spPr>
            <a:xfrm>
              <a:off x="838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00" name="Rechteck 99">
              <a:extLst>
                <a:ext uri="{FF2B5EF4-FFF2-40B4-BE49-F238E27FC236}">
                  <a16:creationId xmlns:a16="http://schemas.microsoft.com/office/drawing/2014/main" id="{0359214E-2A94-AC04-929D-001EBAB0E09D}"/>
                </a:ext>
              </a:extLst>
            </p:cNvPr>
            <p:cNvSpPr/>
            <p:nvPr/>
          </p:nvSpPr>
          <p:spPr>
            <a:xfrm>
              <a:off x="874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102" name="Rechteck 101">
              <a:extLst>
                <a:ext uri="{FF2B5EF4-FFF2-40B4-BE49-F238E27FC236}">
                  <a16:creationId xmlns:a16="http://schemas.microsoft.com/office/drawing/2014/main" id="{DBEB9F14-E819-D1D0-00B0-7D732B0F9E85}"/>
                </a:ext>
              </a:extLst>
            </p:cNvPr>
            <p:cNvSpPr/>
            <p:nvPr/>
          </p:nvSpPr>
          <p:spPr>
            <a:xfrm>
              <a:off x="910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103" name="Rechteck 102">
              <a:extLst>
                <a:ext uri="{FF2B5EF4-FFF2-40B4-BE49-F238E27FC236}">
                  <a16:creationId xmlns:a16="http://schemas.microsoft.com/office/drawing/2014/main" id="{D8DAE517-682E-B8F2-A62F-2D629B7D38DD}"/>
                </a:ext>
              </a:extLst>
            </p:cNvPr>
            <p:cNvSpPr/>
            <p:nvPr/>
          </p:nvSpPr>
          <p:spPr>
            <a:xfrm>
              <a:off x="946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04" name="Rechteck 103">
              <a:extLst>
                <a:ext uri="{FF2B5EF4-FFF2-40B4-BE49-F238E27FC236}">
                  <a16:creationId xmlns:a16="http://schemas.microsoft.com/office/drawing/2014/main" id="{85646F35-8BDF-30C7-09D5-CC66A57F4E17}"/>
                </a:ext>
              </a:extLst>
            </p:cNvPr>
            <p:cNvSpPr/>
            <p:nvPr/>
          </p:nvSpPr>
          <p:spPr>
            <a:xfrm>
              <a:off x="982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05" name="Rechteck 104">
              <a:extLst>
                <a:ext uri="{FF2B5EF4-FFF2-40B4-BE49-F238E27FC236}">
                  <a16:creationId xmlns:a16="http://schemas.microsoft.com/office/drawing/2014/main" id="{5B9AD43F-B7F9-CEC4-A74A-A33B0685E05E}"/>
                </a:ext>
              </a:extLst>
            </p:cNvPr>
            <p:cNvSpPr/>
            <p:nvPr/>
          </p:nvSpPr>
          <p:spPr>
            <a:xfrm>
              <a:off x="1018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812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 animBg="1"/>
      <p:bldP spid="123" grpId="0" animBg="1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149102-06D2-11CD-B563-82448F6E9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Auftrag: Ceasar-Verschlüsselung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D8BB0E-7535-EFA8-7BA2-6932D48C5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CH" dirty="0"/>
              <a:t>Wählt gemeinsam einen </a:t>
            </a:r>
            <a:r>
              <a:rPr lang="de-CH" b="1" dirty="0"/>
              <a:t>Schlüssel </a:t>
            </a:r>
            <a:r>
              <a:rPr lang="de-CH" dirty="0"/>
              <a:t>(Verschiebung zw. 1 bis 25)  </a:t>
            </a:r>
          </a:p>
          <a:p>
            <a:pPr marL="514350" indent="-514350">
              <a:buFont typeface="+mj-lt"/>
              <a:buAutoNum type="arabicPeriod"/>
            </a:pPr>
            <a:r>
              <a:rPr lang="de-CH" dirty="0"/>
              <a:t>Verschiebt eure Ceasar-Scheiben entsprechend (beide gleich)</a:t>
            </a:r>
          </a:p>
          <a:p>
            <a:pPr marL="514350" indent="-514350">
              <a:buFont typeface="+mj-lt"/>
              <a:buAutoNum type="arabicPeriod"/>
            </a:pPr>
            <a:r>
              <a:rPr lang="de-CH" dirty="0"/>
              <a:t>Verschlüsselt je irgendeinen </a:t>
            </a:r>
            <a:r>
              <a:rPr lang="de-CH" b="1" dirty="0"/>
              <a:t>Klartext </a:t>
            </a:r>
            <a:r>
              <a:rPr lang="de-CH" dirty="0"/>
              <a:t>(max. 10 Buchstaben) mithilfe der Ceasar-Scheibe und schreibt den </a:t>
            </a:r>
            <a:r>
              <a:rPr lang="de-CH" b="1" dirty="0"/>
              <a:t>Geheimtext </a:t>
            </a:r>
            <a:r>
              <a:rPr lang="de-CH" dirty="0"/>
              <a:t>auf einen Zettel</a:t>
            </a:r>
          </a:p>
          <a:p>
            <a:pPr marL="514350" indent="-514350">
              <a:buFont typeface="+mj-lt"/>
              <a:buAutoNum type="arabicPeriod"/>
            </a:pPr>
            <a:r>
              <a:rPr lang="de-CH" dirty="0"/>
              <a:t>Händigt den Zettel mit dem Geheimtext der anderen Person aus</a:t>
            </a:r>
          </a:p>
          <a:p>
            <a:pPr marL="514350" indent="-514350">
              <a:buFont typeface="+mj-lt"/>
              <a:buAutoNum type="arabicPeriod"/>
            </a:pPr>
            <a:r>
              <a:rPr lang="de-CH" dirty="0"/>
              <a:t>Entschlüsselt den überlieferten Geheimtext mithilfe der Ceasar-Scheibe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Font typeface="+mj-lt"/>
              <a:buAutoNum type="arabicPeriod"/>
            </a:pPr>
            <a:endParaRPr lang="de-CH" dirty="0"/>
          </a:p>
          <a:p>
            <a:pPr marL="514350" indent="-514350">
              <a:buFont typeface="+mj-lt"/>
              <a:buAutoNum type="arabicPeriod"/>
            </a:pPr>
            <a:endParaRPr lang="de-CH" dirty="0"/>
          </a:p>
          <a:p>
            <a:pPr marL="514350" indent="-514350">
              <a:buFont typeface="+mj-lt"/>
              <a:buAutoNum type="arabicPeriod"/>
            </a:pPr>
            <a:endParaRPr lang="de-CH" dirty="0"/>
          </a:p>
          <a:p>
            <a:endParaRPr lang="de-CH" dirty="0"/>
          </a:p>
        </p:txBody>
      </p:sp>
      <p:pic>
        <p:nvPicPr>
          <p:cNvPr id="6" name="Grafik 5" descr="Stoppuhr mit einfarbiger Füllung">
            <a:extLst>
              <a:ext uri="{FF2B5EF4-FFF2-40B4-BE49-F238E27FC236}">
                <a16:creationId xmlns:a16="http://schemas.microsoft.com/office/drawing/2014/main" id="{C8C4EE4F-1519-2BD7-BA8E-17F02CD72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2487" y="570706"/>
            <a:ext cx="914400" cy="9144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72347C1-B337-75BB-B2F4-4FEA144F0669}"/>
              </a:ext>
            </a:extLst>
          </p:cNvPr>
          <p:cNvSpPr txBox="1"/>
          <p:nvPr/>
        </p:nvSpPr>
        <p:spPr>
          <a:xfrm>
            <a:off x="9916887" y="688412"/>
            <a:ext cx="1741714" cy="707886"/>
          </a:xfrm>
          <a:prstGeom prst="rect">
            <a:avLst/>
          </a:prstGeom>
          <a:noFill/>
          <a:ln w="317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sz="2000" b="1" dirty="0"/>
              <a:t>10 Minuten</a:t>
            </a:r>
          </a:p>
          <a:p>
            <a:r>
              <a:rPr lang="de-CH" sz="2000" b="1" dirty="0"/>
              <a:t>Partnerarbeit</a:t>
            </a:r>
          </a:p>
        </p:txBody>
      </p:sp>
    </p:spTree>
    <p:extLst>
      <p:ext uri="{BB962C8B-B14F-4D97-AF65-F5344CB8AC3E}">
        <p14:creationId xmlns:p14="http://schemas.microsoft.com/office/powerpoint/2010/main" val="1272171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DA0B31-6942-1BCF-2006-BC05A994C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Online Tool: Digitale Ceasar Scheibe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59452D-B916-DBD5-4163-A3011653A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>
                <a:hlinkClick r:id="rId2"/>
              </a:rPr>
              <a:t>https://cryptii.com/pipes/caesar-cipher</a:t>
            </a:r>
            <a:endParaRPr lang="de-CH" dirty="0"/>
          </a:p>
          <a:p>
            <a:endParaRPr lang="de-CH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2E93D21-CDE0-AC1C-B87C-40C968359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016" y="2439000"/>
            <a:ext cx="3627967" cy="362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551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475E-800A-77D1-3B83-01C5E6030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62A566-ED8F-08ED-7BF1-83F54CDF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Auftrag: Ceasar-Entschlüsselung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E4DF8E-9FE1-FA4B-E556-7B002F23B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0401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CH" dirty="0"/>
              <a:t>Gebt euren Geheimtext vom vorherigen Auftrag jemand anderem</a:t>
            </a:r>
          </a:p>
          <a:p>
            <a:pPr marL="514350" indent="-514350">
              <a:buFont typeface="+mj-lt"/>
              <a:buAutoNum type="arabicPeriod"/>
            </a:pPr>
            <a:r>
              <a:rPr lang="de-CH" dirty="0"/>
              <a:t>Versucht den unlesbaren Geheimtext mithilfe der Ceasar-Scheibe zu knacken</a:t>
            </a:r>
          </a:p>
          <a:p>
            <a:pPr marL="514350" indent="-514350">
              <a:buFont typeface="+mj-lt"/>
              <a:buAutoNum type="arabicPeriod"/>
            </a:pPr>
            <a:endParaRPr lang="de-CH" dirty="0"/>
          </a:p>
          <a:p>
            <a:pPr marL="514350" indent="-514350">
              <a:buFont typeface="+mj-lt"/>
              <a:buAutoNum type="arabicPeriod"/>
            </a:pPr>
            <a:endParaRPr lang="de-CH" dirty="0"/>
          </a:p>
          <a:p>
            <a:pPr marL="514350" indent="-514350">
              <a:buFont typeface="+mj-lt"/>
              <a:buAutoNum type="arabicPeriod"/>
            </a:pPr>
            <a:endParaRPr lang="de-CH" dirty="0"/>
          </a:p>
          <a:p>
            <a:endParaRPr lang="de-CH" dirty="0"/>
          </a:p>
        </p:txBody>
      </p:sp>
      <p:pic>
        <p:nvPicPr>
          <p:cNvPr id="6" name="Grafik 5" descr="Stoppuhr mit einfarbiger Füllung">
            <a:extLst>
              <a:ext uri="{FF2B5EF4-FFF2-40B4-BE49-F238E27FC236}">
                <a16:creationId xmlns:a16="http://schemas.microsoft.com/office/drawing/2014/main" id="{D340BEF1-8E4D-9219-BF97-643008533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2487" y="570706"/>
            <a:ext cx="914400" cy="9144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0A7934F-BECA-4C60-B9A2-03E05BDC3A77}"/>
              </a:ext>
            </a:extLst>
          </p:cNvPr>
          <p:cNvSpPr txBox="1"/>
          <p:nvPr/>
        </p:nvSpPr>
        <p:spPr>
          <a:xfrm>
            <a:off x="9916887" y="688412"/>
            <a:ext cx="1741714" cy="707886"/>
          </a:xfrm>
          <a:prstGeom prst="rect">
            <a:avLst/>
          </a:prstGeom>
          <a:noFill/>
          <a:ln w="317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sz="2000" b="1" dirty="0"/>
              <a:t>5 Minuten</a:t>
            </a:r>
          </a:p>
          <a:p>
            <a:r>
              <a:rPr lang="de-CH" sz="2000" b="1" dirty="0"/>
              <a:t>Einzelarbeit</a:t>
            </a:r>
          </a:p>
        </p:txBody>
      </p:sp>
    </p:spTree>
    <p:extLst>
      <p:ext uri="{BB962C8B-B14F-4D97-AF65-F5344CB8AC3E}">
        <p14:creationId xmlns:p14="http://schemas.microsoft.com/office/powerpoint/2010/main" val="3531728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223366-BD18-71E0-4F0E-B45632207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Schwachstellen der Ceasar-Verschlüsselung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42BDD0-A981-DA31-7870-45328AF84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Sehr kleiner «Schlüsselraum»</a:t>
            </a:r>
          </a:p>
          <a:p>
            <a:pPr marL="457200" lvl="1" indent="0">
              <a:buNone/>
            </a:pPr>
            <a:r>
              <a:rPr lang="de-CH" dirty="0"/>
              <a:t>-&gt; Erlaubt banale aber effiziente Kryptoanalyse: </a:t>
            </a:r>
            <a:r>
              <a:rPr lang="de-CH" b="1" dirty="0"/>
              <a:t>Brute-Force-</a:t>
            </a:r>
            <a:r>
              <a:rPr lang="de-CH" b="1" dirty="0" err="1"/>
              <a:t>Attack</a:t>
            </a:r>
            <a:r>
              <a:rPr lang="de-CH" dirty="0"/>
              <a:t>, d.h. Durchprobieren aller möglichen (25) Schlüssel</a:t>
            </a:r>
          </a:p>
          <a:p>
            <a:pPr marL="914400" lvl="2" indent="0">
              <a:buNone/>
            </a:pPr>
            <a:endParaRPr lang="de-CH" dirty="0"/>
          </a:p>
          <a:p>
            <a:endParaRPr lang="de-CH" dirty="0"/>
          </a:p>
          <a:p>
            <a:pPr marL="457200" lvl="1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0453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02FE0-9C62-A956-8A4C-9CD47194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7D3CE0-DBE8-5543-8A97-112C53A5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Monoalphabetische Substitution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08D266-E2EC-DF94-D921-473646FC6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Monoalphabetische Substitution (Ersetzung) der Buchstaben im </a:t>
            </a:r>
            <a:r>
              <a:rPr lang="de-CH" dirty="0">
                <a:solidFill>
                  <a:srgbClr val="0070C0"/>
                </a:solidFill>
              </a:rPr>
              <a:t>Klartextalphabet</a:t>
            </a:r>
            <a:r>
              <a:rPr lang="de-CH" dirty="0"/>
              <a:t> durch Buchstaben im </a:t>
            </a:r>
            <a:r>
              <a:rPr lang="de-CH" dirty="0">
                <a:solidFill>
                  <a:srgbClr val="C00000"/>
                </a:solidFill>
              </a:rPr>
              <a:t>Geheimalphabet</a:t>
            </a:r>
          </a:p>
          <a:p>
            <a:endParaRPr lang="de-CH" dirty="0"/>
          </a:p>
          <a:p>
            <a:r>
              <a:rPr lang="de-CH" dirty="0"/>
              <a:t>Beispiel: </a:t>
            </a:r>
            <a:r>
              <a:rPr lang="de-CH" b="1" dirty="0"/>
              <a:t>Zufällige</a:t>
            </a:r>
            <a:r>
              <a:rPr lang="de-CH" dirty="0"/>
              <a:t> monoalphabetische Substitution</a:t>
            </a:r>
          </a:p>
          <a:p>
            <a:endParaRPr lang="de-CH" dirty="0"/>
          </a:p>
          <a:p>
            <a:endParaRPr lang="de-CH" dirty="0"/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A6FDBD1A-19D4-6125-BECE-72B61A2FBBC5}"/>
              </a:ext>
            </a:extLst>
          </p:cNvPr>
          <p:cNvGrpSpPr/>
          <p:nvPr/>
        </p:nvGrpSpPr>
        <p:grpSpPr>
          <a:xfrm>
            <a:off x="1183820" y="5243854"/>
            <a:ext cx="9360000" cy="360000"/>
            <a:chOff x="1216477" y="5050972"/>
            <a:chExt cx="9360000" cy="360000"/>
          </a:xfrm>
        </p:grpSpPr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984A048A-95D5-2EE9-9E32-8AA0A545DE57}"/>
                </a:ext>
              </a:extLst>
            </p:cNvPr>
            <p:cNvSpPr/>
            <p:nvPr/>
          </p:nvSpPr>
          <p:spPr>
            <a:xfrm>
              <a:off x="121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0136846-0ED3-29DA-AA09-C8D3A1118840}"/>
                </a:ext>
              </a:extLst>
            </p:cNvPr>
            <p:cNvSpPr/>
            <p:nvPr/>
          </p:nvSpPr>
          <p:spPr>
            <a:xfrm>
              <a:off x="157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52DD218E-A40E-077B-2B36-3365CC9FE742}"/>
                </a:ext>
              </a:extLst>
            </p:cNvPr>
            <p:cNvSpPr/>
            <p:nvPr/>
          </p:nvSpPr>
          <p:spPr>
            <a:xfrm>
              <a:off x="193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97D2F9C3-7D62-5A31-EF9C-A4055937FE2B}"/>
                </a:ext>
              </a:extLst>
            </p:cNvPr>
            <p:cNvSpPr/>
            <p:nvPr/>
          </p:nvSpPr>
          <p:spPr>
            <a:xfrm>
              <a:off x="229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0BEDA028-AE5C-DE46-F4A2-7EF5BC714174}"/>
                </a:ext>
              </a:extLst>
            </p:cNvPr>
            <p:cNvSpPr/>
            <p:nvPr/>
          </p:nvSpPr>
          <p:spPr>
            <a:xfrm>
              <a:off x="265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B2DC8B2E-1B4B-255F-C335-B16A9DB2FFA7}"/>
                </a:ext>
              </a:extLst>
            </p:cNvPr>
            <p:cNvSpPr/>
            <p:nvPr/>
          </p:nvSpPr>
          <p:spPr>
            <a:xfrm>
              <a:off x="301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2DE7E403-2DDB-206C-9B9D-08AFDBBBC39E}"/>
                </a:ext>
              </a:extLst>
            </p:cNvPr>
            <p:cNvSpPr/>
            <p:nvPr/>
          </p:nvSpPr>
          <p:spPr>
            <a:xfrm>
              <a:off x="337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4564DF70-E156-A446-27EC-48F420BC229A}"/>
                </a:ext>
              </a:extLst>
            </p:cNvPr>
            <p:cNvSpPr/>
            <p:nvPr/>
          </p:nvSpPr>
          <p:spPr>
            <a:xfrm>
              <a:off x="373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74E25527-17E5-BCE6-2785-A9EC737C8BEE}"/>
                </a:ext>
              </a:extLst>
            </p:cNvPr>
            <p:cNvSpPr/>
            <p:nvPr/>
          </p:nvSpPr>
          <p:spPr>
            <a:xfrm>
              <a:off x="409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F7B25D4A-2CEC-3782-A3C1-E88FF79388EF}"/>
                </a:ext>
              </a:extLst>
            </p:cNvPr>
            <p:cNvSpPr/>
            <p:nvPr/>
          </p:nvSpPr>
          <p:spPr>
            <a:xfrm>
              <a:off x="445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0EAA2D1C-3132-75F0-21FF-A5BB8FF08497}"/>
                </a:ext>
              </a:extLst>
            </p:cNvPr>
            <p:cNvSpPr/>
            <p:nvPr/>
          </p:nvSpPr>
          <p:spPr>
            <a:xfrm>
              <a:off x="481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22F20959-F5A4-9DF4-A5C7-DEA8BF5AB3BF}"/>
                </a:ext>
              </a:extLst>
            </p:cNvPr>
            <p:cNvSpPr/>
            <p:nvPr/>
          </p:nvSpPr>
          <p:spPr>
            <a:xfrm>
              <a:off x="517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D25EC14C-3FF6-BBCB-F361-34A8D4DED89B}"/>
                </a:ext>
              </a:extLst>
            </p:cNvPr>
            <p:cNvSpPr/>
            <p:nvPr/>
          </p:nvSpPr>
          <p:spPr>
            <a:xfrm>
              <a:off x="553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33E1A016-6612-EDC7-6724-1C56F176F184}"/>
                </a:ext>
              </a:extLst>
            </p:cNvPr>
            <p:cNvSpPr/>
            <p:nvPr/>
          </p:nvSpPr>
          <p:spPr>
            <a:xfrm>
              <a:off x="589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347CBDEC-8742-238E-E42A-F4D45E706EED}"/>
                </a:ext>
              </a:extLst>
            </p:cNvPr>
            <p:cNvSpPr/>
            <p:nvPr/>
          </p:nvSpPr>
          <p:spPr>
            <a:xfrm>
              <a:off x="625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223D32BA-C78D-7769-E701-7B690410830D}"/>
                </a:ext>
              </a:extLst>
            </p:cNvPr>
            <p:cNvSpPr/>
            <p:nvPr/>
          </p:nvSpPr>
          <p:spPr>
            <a:xfrm>
              <a:off x="661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EF2CD513-B8D3-9EB1-2B5B-226795C7179B}"/>
                </a:ext>
              </a:extLst>
            </p:cNvPr>
            <p:cNvSpPr/>
            <p:nvPr/>
          </p:nvSpPr>
          <p:spPr>
            <a:xfrm>
              <a:off x="697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1F166A45-E9E2-220A-6E6B-46FFAE306C87}"/>
                </a:ext>
              </a:extLst>
            </p:cNvPr>
            <p:cNvSpPr/>
            <p:nvPr/>
          </p:nvSpPr>
          <p:spPr>
            <a:xfrm>
              <a:off x="733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A5622B77-3B1B-6268-9A6E-A4C241C678DA}"/>
                </a:ext>
              </a:extLst>
            </p:cNvPr>
            <p:cNvSpPr/>
            <p:nvPr/>
          </p:nvSpPr>
          <p:spPr>
            <a:xfrm>
              <a:off x="769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99412F49-5DB4-4482-4B37-51788D157CD3}"/>
                </a:ext>
              </a:extLst>
            </p:cNvPr>
            <p:cNvSpPr/>
            <p:nvPr/>
          </p:nvSpPr>
          <p:spPr>
            <a:xfrm>
              <a:off x="805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D6E5641E-ADA7-32C8-D667-94FC036AC4F5}"/>
                </a:ext>
              </a:extLst>
            </p:cNvPr>
            <p:cNvSpPr/>
            <p:nvPr/>
          </p:nvSpPr>
          <p:spPr>
            <a:xfrm>
              <a:off x="841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740AB505-E8E5-296B-5739-330911F4FDF0}"/>
                </a:ext>
              </a:extLst>
            </p:cNvPr>
            <p:cNvSpPr/>
            <p:nvPr/>
          </p:nvSpPr>
          <p:spPr>
            <a:xfrm>
              <a:off x="877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100" name="Rechteck 99">
              <a:extLst>
                <a:ext uri="{FF2B5EF4-FFF2-40B4-BE49-F238E27FC236}">
                  <a16:creationId xmlns:a16="http://schemas.microsoft.com/office/drawing/2014/main" id="{949D8AC8-C2D9-4617-7D2D-669A406E8AD0}"/>
                </a:ext>
              </a:extLst>
            </p:cNvPr>
            <p:cNvSpPr/>
            <p:nvPr/>
          </p:nvSpPr>
          <p:spPr>
            <a:xfrm>
              <a:off x="913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102" name="Rechteck 101">
              <a:extLst>
                <a:ext uri="{FF2B5EF4-FFF2-40B4-BE49-F238E27FC236}">
                  <a16:creationId xmlns:a16="http://schemas.microsoft.com/office/drawing/2014/main" id="{3A505FE0-D3A3-0DFF-BB5D-74304C56D549}"/>
                </a:ext>
              </a:extLst>
            </p:cNvPr>
            <p:cNvSpPr/>
            <p:nvPr/>
          </p:nvSpPr>
          <p:spPr>
            <a:xfrm>
              <a:off x="949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03" name="Rechteck 102">
              <a:extLst>
                <a:ext uri="{FF2B5EF4-FFF2-40B4-BE49-F238E27FC236}">
                  <a16:creationId xmlns:a16="http://schemas.microsoft.com/office/drawing/2014/main" id="{B2F2104A-9BCE-16D8-3056-6E8D9F6358D9}"/>
                </a:ext>
              </a:extLst>
            </p:cNvPr>
            <p:cNvSpPr/>
            <p:nvPr/>
          </p:nvSpPr>
          <p:spPr>
            <a:xfrm>
              <a:off x="985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04" name="Rechteck 103">
              <a:extLst>
                <a:ext uri="{FF2B5EF4-FFF2-40B4-BE49-F238E27FC236}">
                  <a16:creationId xmlns:a16="http://schemas.microsoft.com/office/drawing/2014/main" id="{E05C9D21-0543-2E74-4191-63025C1C8F0A}"/>
                </a:ext>
              </a:extLst>
            </p:cNvPr>
            <p:cNvSpPr/>
            <p:nvPr/>
          </p:nvSpPr>
          <p:spPr>
            <a:xfrm>
              <a:off x="10216477" y="5050972"/>
              <a:ext cx="360000" cy="36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Z</a:t>
              </a:r>
            </a:p>
          </p:txBody>
        </p: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5CC9A872-065D-3FE3-887A-B3678FE694B9}"/>
              </a:ext>
            </a:extLst>
          </p:cNvPr>
          <p:cNvGrpSpPr/>
          <p:nvPr/>
        </p:nvGrpSpPr>
        <p:grpSpPr>
          <a:xfrm>
            <a:off x="1183820" y="4016830"/>
            <a:ext cx="9360000" cy="360000"/>
            <a:chOff x="1183820" y="4294415"/>
            <a:chExt cx="9360000" cy="360000"/>
          </a:xfrm>
        </p:grpSpPr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1BB505BC-52F8-06FE-B1B1-40389A4DB932}"/>
                </a:ext>
              </a:extLst>
            </p:cNvPr>
            <p:cNvSpPr/>
            <p:nvPr/>
          </p:nvSpPr>
          <p:spPr>
            <a:xfrm>
              <a:off x="118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07" name="Rechteck 106">
              <a:extLst>
                <a:ext uri="{FF2B5EF4-FFF2-40B4-BE49-F238E27FC236}">
                  <a16:creationId xmlns:a16="http://schemas.microsoft.com/office/drawing/2014/main" id="{96B38203-CC8A-DE59-F932-5CA5D990A7F8}"/>
                </a:ext>
              </a:extLst>
            </p:cNvPr>
            <p:cNvSpPr/>
            <p:nvPr/>
          </p:nvSpPr>
          <p:spPr>
            <a:xfrm>
              <a:off x="154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B6C9DDBE-26AD-CBD6-2A57-C19EF252E7BE}"/>
                </a:ext>
              </a:extLst>
            </p:cNvPr>
            <p:cNvSpPr/>
            <p:nvPr/>
          </p:nvSpPr>
          <p:spPr>
            <a:xfrm>
              <a:off x="190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09" name="Rechteck 108">
              <a:extLst>
                <a:ext uri="{FF2B5EF4-FFF2-40B4-BE49-F238E27FC236}">
                  <a16:creationId xmlns:a16="http://schemas.microsoft.com/office/drawing/2014/main" id="{D753B54C-0E45-EF1F-5C24-FF366EC47837}"/>
                </a:ext>
              </a:extLst>
            </p:cNvPr>
            <p:cNvSpPr/>
            <p:nvPr/>
          </p:nvSpPr>
          <p:spPr>
            <a:xfrm>
              <a:off x="226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10" name="Rechteck 109">
              <a:extLst>
                <a:ext uri="{FF2B5EF4-FFF2-40B4-BE49-F238E27FC236}">
                  <a16:creationId xmlns:a16="http://schemas.microsoft.com/office/drawing/2014/main" id="{9FCEB8F6-F29D-C30F-D64E-A6D47F5C2CB1}"/>
                </a:ext>
              </a:extLst>
            </p:cNvPr>
            <p:cNvSpPr/>
            <p:nvPr/>
          </p:nvSpPr>
          <p:spPr>
            <a:xfrm>
              <a:off x="262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11" name="Rechteck 110">
              <a:extLst>
                <a:ext uri="{FF2B5EF4-FFF2-40B4-BE49-F238E27FC236}">
                  <a16:creationId xmlns:a16="http://schemas.microsoft.com/office/drawing/2014/main" id="{95B882B1-3288-88AE-850B-483400308CAD}"/>
                </a:ext>
              </a:extLst>
            </p:cNvPr>
            <p:cNvSpPr/>
            <p:nvPr/>
          </p:nvSpPr>
          <p:spPr>
            <a:xfrm>
              <a:off x="298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12" name="Rechteck 111">
              <a:extLst>
                <a:ext uri="{FF2B5EF4-FFF2-40B4-BE49-F238E27FC236}">
                  <a16:creationId xmlns:a16="http://schemas.microsoft.com/office/drawing/2014/main" id="{0AD332FC-1E02-36DE-837F-C7613B6D95D7}"/>
                </a:ext>
              </a:extLst>
            </p:cNvPr>
            <p:cNvSpPr/>
            <p:nvPr/>
          </p:nvSpPr>
          <p:spPr>
            <a:xfrm>
              <a:off x="334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113" name="Rechteck 112">
              <a:extLst>
                <a:ext uri="{FF2B5EF4-FFF2-40B4-BE49-F238E27FC236}">
                  <a16:creationId xmlns:a16="http://schemas.microsoft.com/office/drawing/2014/main" id="{D8FB77C9-84D8-1531-00C5-90146582C571}"/>
                </a:ext>
              </a:extLst>
            </p:cNvPr>
            <p:cNvSpPr/>
            <p:nvPr/>
          </p:nvSpPr>
          <p:spPr>
            <a:xfrm>
              <a:off x="370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114" name="Rechteck 113">
              <a:extLst>
                <a:ext uri="{FF2B5EF4-FFF2-40B4-BE49-F238E27FC236}">
                  <a16:creationId xmlns:a16="http://schemas.microsoft.com/office/drawing/2014/main" id="{8F7F09AB-F639-6193-4741-4E605646D402}"/>
                </a:ext>
              </a:extLst>
            </p:cNvPr>
            <p:cNvSpPr/>
            <p:nvPr/>
          </p:nvSpPr>
          <p:spPr>
            <a:xfrm>
              <a:off x="406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115" name="Rechteck 114">
              <a:extLst>
                <a:ext uri="{FF2B5EF4-FFF2-40B4-BE49-F238E27FC236}">
                  <a16:creationId xmlns:a16="http://schemas.microsoft.com/office/drawing/2014/main" id="{08C8D123-D729-B7F9-BFD6-7BE7166CE4F9}"/>
                </a:ext>
              </a:extLst>
            </p:cNvPr>
            <p:cNvSpPr/>
            <p:nvPr/>
          </p:nvSpPr>
          <p:spPr>
            <a:xfrm>
              <a:off x="442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116" name="Rechteck 115">
              <a:extLst>
                <a:ext uri="{FF2B5EF4-FFF2-40B4-BE49-F238E27FC236}">
                  <a16:creationId xmlns:a16="http://schemas.microsoft.com/office/drawing/2014/main" id="{8A78114B-1237-ACDC-35CD-4CEDFA3F6CB4}"/>
                </a:ext>
              </a:extLst>
            </p:cNvPr>
            <p:cNvSpPr/>
            <p:nvPr/>
          </p:nvSpPr>
          <p:spPr>
            <a:xfrm>
              <a:off x="478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117" name="Rechteck 116">
              <a:extLst>
                <a:ext uri="{FF2B5EF4-FFF2-40B4-BE49-F238E27FC236}">
                  <a16:creationId xmlns:a16="http://schemas.microsoft.com/office/drawing/2014/main" id="{5738AFD5-BA8F-9D82-E6B0-A03FC08CCD46}"/>
                </a:ext>
              </a:extLst>
            </p:cNvPr>
            <p:cNvSpPr/>
            <p:nvPr/>
          </p:nvSpPr>
          <p:spPr>
            <a:xfrm>
              <a:off x="514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18" name="Rechteck 117">
              <a:extLst>
                <a:ext uri="{FF2B5EF4-FFF2-40B4-BE49-F238E27FC236}">
                  <a16:creationId xmlns:a16="http://schemas.microsoft.com/office/drawing/2014/main" id="{BC6B18A4-E282-D34F-317D-586300BB84CF}"/>
                </a:ext>
              </a:extLst>
            </p:cNvPr>
            <p:cNvSpPr/>
            <p:nvPr/>
          </p:nvSpPr>
          <p:spPr>
            <a:xfrm>
              <a:off x="550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119" name="Rechteck 118">
              <a:extLst>
                <a:ext uri="{FF2B5EF4-FFF2-40B4-BE49-F238E27FC236}">
                  <a16:creationId xmlns:a16="http://schemas.microsoft.com/office/drawing/2014/main" id="{233E0E63-B46A-31FB-85A8-5F9D033BBBCB}"/>
                </a:ext>
              </a:extLst>
            </p:cNvPr>
            <p:cNvSpPr/>
            <p:nvPr/>
          </p:nvSpPr>
          <p:spPr>
            <a:xfrm>
              <a:off x="586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120" name="Rechteck 119">
              <a:extLst>
                <a:ext uri="{FF2B5EF4-FFF2-40B4-BE49-F238E27FC236}">
                  <a16:creationId xmlns:a16="http://schemas.microsoft.com/office/drawing/2014/main" id="{058FEDA3-B057-5053-3F73-3EF8978BCB18}"/>
                </a:ext>
              </a:extLst>
            </p:cNvPr>
            <p:cNvSpPr/>
            <p:nvPr/>
          </p:nvSpPr>
          <p:spPr>
            <a:xfrm>
              <a:off x="622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125" name="Rechteck 124">
              <a:extLst>
                <a:ext uri="{FF2B5EF4-FFF2-40B4-BE49-F238E27FC236}">
                  <a16:creationId xmlns:a16="http://schemas.microsoft.com/office/drawing/2014/main" id="{BC438B11-3C23-1E9E-AF14-5B3F1849B110}"/>
                </a:ext>
              </a:extLst>
            </p:cNvPr>
            <p:cNvSpPr/>
            <p:nvPr/>
          </p:nvSpPr>
          <p:spPr>
            <a:xfrm>
              <a:off x="658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27" name="Rechteck 126">
              <a:extLst>
                <a:ext uri="{FF2B5EF4-FFF2-40B4-BE49-F238E27FC236}">
                  <a16:creationId xmlns:a16="http://schemas.microsoft.com/office/drawing/2014/main" id="{C6D175ED-8119-019C-BAD6-3C3FCD4C4488}"/>
                </a:ext>
              </a:extLst>
            </p:cNvPr>
            <p:cNvSpPr/>
            <p:nvPr/>
          </p:nvSpPr>
          <p:spPr>
            <a:xfrm>
              <a:off x="694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129" name="Rechteck 128">
              <a:extLst>
                <a:ext uri="{FF2B5EF4-FFF2-40B4-BE49-F238E27FC236}">
                  <a16:creationId xmlns:a16="http://schemas.microsoft.com/office/drawing/2014/main" id="{A42217D7-917B-1144-D2CB-941FB451FDD5}"/>
                </a:ext>
              </a:extLst>
            </p:cNvPr>
            <p:cNvSpPr/>
            <p:nvPr/>
          </p:nvSpPr>
          <p:spPr>
            <a:xfrm>
              <a:off x="730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130" name="Rechteck 129">
              <a:extLst>
                <a:ext uri="{FF2B5EF4-FFF2-40B4-BE49-F238E27FC236}">
                  <a16:creationId xmlns:a16="http://schemas.microsoft.com/office/drawing/2014/main" id="{30AE7A21-C937-04C1-9E4B-C12CF5995AB2}"/>
                </a:ext>
              </a:extLst>
            </p:cNvPr>
            <p:cNvSpPr/>
            <p:nvPr/>
          </p:nvSpPr>
          <p:spPr>
            <a:xfrm>
              <a:off x="766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7C16D268-53B5-38DC-278F-03C29679CBC9}"/>
                </a:ext>
              </a:extLst>
            </p:cNvPr>
            <p:cNvSpPr/>
            <p:nvPr/>
          </p:nvSpPr>
          <p:spPr>
            <a:xfrm>
              <a:off x="802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655B4933-5B19-4604-1C55-31FAB517AF7E}"/>
                </a:ext>
              </a:extLst>
            </p:cNvPr>
            <p:cNvSpPr/>
            <p:nvPr/>
          </p:nvSpPr>
          <p:spPr>
            <a:xfrm>
              <a:off x="838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33" name="Rechteck 132">
              <a:extLst>
                <a:ext uri="{FF2B5EF4-FFF2-40B4-BE49-F238E27FC236}">
                  <a16:creationId xmlns:a16="http://schemas.microsoft.com/office/drawing/2014/main" id="{322BA8E4-8D50-97DA-AF83-1574740250FD}"/>
                </a:ext>
              </a:extLst>
            </p:cNvPr>
            <p:cNvSpPr/>
            <p:nvPr/>
          </p:nvSpPr>
          <p:spPr>
            <a:xfrm>
              <a:off x="874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134" name="Rechteck 133">
              <a:extLst>
                <a:ext uri="{FF2B5EF4-FFF2-40B4-BE49-F238E27FC236}">
                  <a16:creationId xmlns:a16="http://schemas.microsoft.com/office/drawing/2014/main" id="{CC3F774C-032E-6119-9EC1-4C8E5A1E08E3}"/>
                </a:ext>
              </a:extLst>
            </p:cNvPr>
            <p:cNvSpPr/>
            <p:nvPr/>
          </p:nvSpPr>
          <p:spPr>
            <a:xfrm>
              <a:off x="910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135" name="Rechteck 134">
              <a:extLst>
                <a:ext uri="{FF2B5EF4-FFF2-40B4-BE49-F238E27FC236}">
                  <a16:creationId xmlns:a16="http://schemas.microsoft.com/office/drawing/2014/main" id="{A900A039-129B-026C-861D-1D3E1AF55BA1}"/>
                </a:ext>
              </a:extLst>
            </p:cNvPr>
            <p:cNvSpPr/>
            <p:nvPr/>
          </p:nvSpPr>
          <p:spPr>
            <a:xfrm>
              <a:off x="946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36" name="Rechteck 135">
              <a:extLst>
                <a:ext uri="{FF2B5EF4-FFF2-40B4-BE49-F238E27FC236}">
                  <a16:creationId xmlns:a16="http://schemas.microsoft.com/office/drawing/2014/main" id="{5F762F49-B83C-4AFC-0427-8EBC64EEDB7F}"/>
                </a:ext>
              </a:extLst>
            </p:cNvPr>
            <p:cNvSpPr/>
            <p:nvPr/>
          </p:nvSpPr>
          <p:spPr>
            <a:xfrm>
              <a:off x="982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37" name="Rechteck 136">
              <a:extLst>
                <a:ext uri="{FF2B5EF4-FFF2-40B4-BE49-F238E27FC236}">
                  <a16:creationId xmlns:a16="http://schemas.microsoft.com/office/drawing/2014/main" id="{5A6BACC1-D315-80A1-ED0D-737895ADAD2F}"/>
                </a:ext>
              </a:extLst>
            </p:cNvPr>
            <p:cNvSpPr/>
            <p:nvPr/>
          </p:nvSpPr>
          <p:spPr>
            <a:xfrm>
              <a:off x="10183820" y="4294415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>
                  <a:solidFill>
                    <a:schemeClr val="tx1"/>
                  </a:solidFill>
                </a:rPr>
                <a:t>Z</a:t>
              </a:r>
            </a:p>
          </p:txBody>
        </p:sp>
      </p:grp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9CB070BA-0761-347D-93CA-806E0B64A549}"/>
              </a:ext>
            </a:extLst>
          </p:cNvPr>
          <p:cNvCxnSpPr>
            <a:endCxn id="38" idx="0"/>
          </p:cNvCxnSpPr>
          <p:nvPr/>
        </p:nvCxnSpPr>
        <p:spPr>
          <a:xfrm>
            <a:off x="1396093" y="4384994"/>
            <a:ext cx="2487727" cy="858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Gerade Verbindung mit Pfeil 138">
            <a:extLst>
              <a:ext uri="{FF2B5EF4-FFF2-40B4-BE49-F238E27FC236}">
                <a16:creationId xmlns:a16="http://schemas.microsoft.com/office/drawing/2014/main" id="{7756086F-28FB-8639-740F-984FB1F9D167}"/>
              </a:ext>
            </a:extLst>
          </p:cNvPr>
          <p:cNvCxnSpPr>
            <a:stCxn id="107" idx="2"/>
            <a:endCxn id="31" idx="0"/>
          </p:cNvCxnSpPr>
          <p:nvPr/>
        </p:nvCxnSpPr>
        <p:spPr>
          <a:xfrm flipH="1">
            <a:off x="1363820" y="4376830"/>
            <a:ext cx="36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B76B71E5-A170-F23B-738F-15B98DF85F84}"/>
              </a:ext>
            </a:extLst>
          </p:cNvPr>
          <p:cNvCxnSpPr>
            <a:endCxn id="102" idx="0"/>
          </p:cNvCxnSpPr>
          <p:nvPr/>
        </p:nvCxnSpPr>
        <p:spPr>
          <a:xfrm>
            <a:off x="2090057" y="4384994"/>
            <a:ext cx="7553763" cy="858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Gerade Verbindung mit Pfeil 140">
            <a:extLst>
              <a:ext uri="{FF2B5EF4-FFF2-40B4-BE49-F238E27FC236}">
                <a16:creationId xmlns:a16="http://schemas.microsoft.com/office/drawing/2014/main" id="{69756F90-6087-95A5-414C-2796B9F7A155}"/>
              </a:ext>
            </a:extLst>
          </p:cNvPr>
          <p:cNvCxnSpPr>
            <a:endCxn id="71" idx="0"/>
          </p:cNvCxnSpPr>
          <p:nvPr/>
        </p:nvCxnSpPr>
        <p:spPr>
          <a:xfrm>
            <a:off x="2441121" y="4384994"/>
            <a:ext cx="3242699" cy="858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Gerade Verbindung mit Pfeil 141">
            <a:extLst>
              <a:ext uri="{FF2B5EF4-FFF2-40B4-BE49-F238E27FC236}">
                <a16:creationId xmlns:a16="http://schemas.microsoft.com/office/drawing/2014/main" id="{7BF87DB9-2EAA-134E-4DF0-CBA249B39DA6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2083820" y="4384994"/>
            <a:ext cx="732859" cy="858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Gerade Verbindung mit Pfeil 142">
            <a:extLst>
              <a:ext uri="{FF2B5EF4-FFF2-40B4-BE49-F238E27FC236}">
                <a16:creationId xmlns:a16="http://schemas.microsoft.com/office/drawing/2014/main" id="{364E9F5E-515F-E8AD-8CF7-3B66AE5ACE98}"/>
              </a:ext>
            </a:extLst>
          </p:cNvPr>
          <p:cNvCxnSpPr>
            <a:stCxn id="132" idx="2"/>
            <a:endCxn id="36" idx="0"/>
          </p:cNvCxnSpPr>
          <p:nvPr/>
        </p:nvCxnSpPr>
        <p:spPr>
          <a:xfrm flipH="1">
            <a:off x="3163820" y="4376830"/>
            <a:ext cx="540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C7632C39-78B5-9B4E-4653-AE003B31E5D2}"/>
              </a:ext>
            </a:extLst>
          </p:cNvPr>
          <p:cNvCxnSpPr>
            <a:endCxn id="66" idx="0"/>
          </p:cNvCxnSpPr>
          <p:nvPr/>
        </p:nvCxnSpPr>
        <p:spPr>
          <a:xfrm flipH="1">
            <a:off x="4603820" y="4384994"/>
            <a:ext cx="2139880" cy="858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Gerade Verbindung mit Pfeil 144">
            <a:extLst>
              <a:ext uri="{FF2B5EF4-FFF2-40B4-BE49-F238E27FC236}">
                <a16:creationId xmlns:a16="http://schemas.microsoft.com/office/drawing/2014/main" id="{32614A00-4CBC-225A-F612-2314A9A236CD}"/>
              </a:ext>
            </a:extLst>
          </p:cNvPr>
          <p:cNvCxnSpPr>
            <a:stCxn id="129" idx="2"/>
            <a:endCxn id="79" idx="0"/>
          </p:cNvCxnSpPr>
          <p:nvPr/>
        </p:nvCxnSpPr>
        <p:spPr>
          <a:xfrm>
            <a:off x="7483820" y="4376830"/>
            <a:ext cx="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BECBB4AE-34A8-B101-855E-F5A4CDE58EE4}"/>
              </a:ext>
            </a:extLst>
          </p:cNvPr>
          <p:cNvCxnSpPr>
            <a:endCxn id="64" idx="0"/>
          </p:cNvCxnSpPr>
          <p:nvPr/>
        </p:nvCxnSpPr>
        <p:spPr>
          <a:xfrm>
            <a:off x="3163820" y="4384994"/>
            <a:ext cx="1080000" cy="858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Gerade Verbindung mit Pfeil 146">
            <a:extLst>
              <a:ext uri="{FF2B5EF4-FFF2-40B4-BE49-F238E27FC236}">
                <a16:creationId xmlns:a16="http://schemas.microsoft.com/office/drawing/2014/main" id="{69A66FC9-62F0-3A3C-8ADC-B28353C13304}"/>
              </a:ext>
            </a:extLst>
          </p:cNvPr>
          <p:cNvCxnSpPr>
            <a:stCxn id="114" idx="2"/>
            <a:endCxn id="87" idx="0"/>
          </p:cNvCxnSpPr>
          <p:nvPr/>
        </p:nvCxnSpPr>
        <p:spPr>
          <a:xfrm>
            <a:off x="4243820" y="4376830"/>
            <a:ext cx="468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9C021B80-900F-BDED-D0EB-4A29657DC2A9}"/>
              </a:ext>
            </a:extLst>
          </p:cNvPr>
          <p:cNvCxnSpPr>
            <a:stCxn id="117" idx="2"/>
            <a:endCxn id="34" idx="0"/>
          </p:cNvCxnSpPr>
          <p:nvPr/>
        </p:nvCxnSpPr>
        <p:spPr>
          <a:xfrm flipH="1">
            <a:off x="2443820" y="4376830"/>
            <a:ext cx="288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71967785-3224-DC68-BB6B-5A7D670A00EE}"/>
              </a:ext>
            </a:extLst>
          </p:cNvPr>
          <p:cNvCxnSpPr>
            <a:stCxn id="116" idx="2"/>
            <a:endCxn id="75" idx="0"/>
          </p:cNvCxnSpPr>
          <p:nvPr/>
        </p:nvCxnSpPr>
        <p:spPr>
          <a:xfrm>
            <a:off x="4963820" y="4376830"/>
            <a:ext cx="144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018049B9-AECB-6028-4FFB-CF072A5A6AE8}"/>
              </a:ext>
            </a:extLst>
          </p:cNvPr>
          <p:cNvCxnSpPr>
            <a:stCxn id="113" idx="2"/>
            <a:endCxn id="104" idx="0"/>
          </p:cNvCxnSpPr>
          <p:nvPr/>
        </p:nvCxnSpPr>
        <p:spPr>
          <a:xfrm>
            <a:off x="3883820" y="4376830"/>
            <a:ext cx="648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Gerade Verbindung mit Pfeil 150">
            <a:extLst>
              <a:ext uri="{FF2B5EF4-FFF2-40B4-BE49-F238E27FC236}">
                <a16:creationId xmlns:a16="http://schemas.microsoft.com/office/drawing/2014/main" id="{AAE7E592-6775-0C08-5243-5A06A886F3E2}"/>
              </a:ext>
            </a:extLst>
          </p:cNvPr>
          <p:cNvCxnSpPr>
            <a:stCxn id="112" idx="2"/>
            <a:endCxn id="67" idx="0"/>
          </p:cNvCxnSpPr>
          <p:nvPr/>
        </p:nvCxnSpPr>
        <p:spPr>
          <a:xfrm>
            <a:off x="3523820" y="4376830"/>
            <a:ext cx="144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Gerade Verbindung mit Pfeil 151">
            <a:extLst>
              <a:ext uri="{FF2B5EF4-FFF2-40B4-BE49-F238E27FC236}">
                <a16:creationId xmlns:a16="http://schemas.microsoft.com/office/drawing/2014/main" id="{E45A868F-F2A6-88C2-F203-96EC468A3BAF}"/>
              </a:ext>
            </a:extLst>
          </p:cNvPr>
          <p:cNvCxnSpPr>
            <a:stCxn id="118" idx="2"/>
            <a:endCxn id="77" idx="0"/>
          </p:cNvCxnSpPr>
          <p:nvPr/>
        </p:nvCxnSpPr>
        <p:spPr>
          <a:xfrm>
            <a:off x="5683820" y="4376830"/>
            <a:ext cx="108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Gerade Verbindung mit Pfeil 152">
            <a:extLst>
              <a:ext uri="{FF2B5EF4-FFF2-40B4-BE49-F238E27FC236}">
                <a16:creationId xmlns:a16="http://schemas.microsoft.com/office/drawing/2014/main" id="{2E3ECA26-DE24-D43B-7009-0F0808235BCE}"/>
              </a:ext>
            </a:extLst>
          </p:cNvPr>
          <p:cNvCxnSpPr>
            <a:stCxn id="119" idx="2"/>
            <a:endCxn id="32" idx="0"/>
          </p:cNvCxnSpPr>
          <p:nvPr/>
        </p:nvCxnSpPr>
        <p:spPr>
          <a:xfrm flipH="1">
            <a:off x="1723820" y="4376830"/>
            <a:ext cx="432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Gerade Verbindung mit Pfeil 153">
            <a:extLst>
              <a:ext uri="{FF2B5EF4-FFF2-40B4-BE49-F238E27FC236}">
                <a16:creationId xmlns:a16="http://schemas.microsoft.com/office/drawing/2014/main" id="{EF749BC7-943A-9F1B-7CBA-024E971E1742}"/>
              </a:ext>
            </a:extLst>
          </p:cNvPr>
          <p:cNvCxnSpPr>
            <a:stCxn id="120" idx="2"/>
            <a:endCxn id="69" idx="0"/>
          </p:cNvCxnSpPr>
          <p:nvPr/>
        </p:nvCxnSpPr>
        <p:spPr>
          <a:xfrm flipH="1">
            <a:off x="5323820" y="4376830"/>
            <a:ext cx="108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0DD2DF15-8BBB-4210-4CF3-828B5FD2CFF2}"/>
              </a:ext>
            </a:extLst>
          </p:cNvPr>
          <p:cNvCxnSpPr>
            <a:endCxn id="103" idx="0"/>
          </p:cNvCxnSpPr>
          <p:nvPr/>
        </p:nvCxnSpPr>
        <p:spPr>
          <a:xfrm>
            <a:off x="8923820" y="4384994"/>
            <a:ext cx="1080000" cy="858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Gerade Verbindung mit Pfeil 155">
            <a:extLst>
              <a:ext uri="{FF2B5EF4-FFF2-40B4-BE49-F238E27FC236}">
                <a16:creationId xmlns:a16="http://schemas.microsoft.com/office/drawing/2014/main" id="{D746BC1D-599C-8E65-7BBB-F7738F689208}"/>
              </a:ext>
            </a:extLst>
          </p:cNvPr>
          <p:cNvCxnSpPr>
            <a:stCxn id="137" idx="2"/>
            <a:endCxn id="78" idx="0"/>
          </p:cNvCxnSpPr>
          <p:nvPr/>
        </p:nvCxnSpPr>
        <p:spPr>
          <a:xfrm flipH="1">
            <a:off x="7123820" y="4376830"/>
            <a:ext cx="324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851D13C9-FD88-CBDF-7732-98F7985B5EBE}"/>
              </a:ext>
            </a:extLst>
          </p:cNvPr>
          <p:cNvCxnSpPr>
            <a:stCxn id="136" idx="2"/>
            <a:endCxn id="100" idx="0"/>
          </p:cNvCxnSpPr>
          <p:nvPr/>
        </p:nvCxnSpPr>
        <p:spPr>
          <a:xfrm flipH="1">
            <a:off x="9283820" y="4376830"/>
            <a:ext cx="72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731879C1-AC98-A94E-C8B5-7953EC5BF7C0}"/>
              </a:ext>
            </a:extLst>
          </p:cNvPr>
          <p:cNvCxnSpPr>
            <a:stCxn id="135" idx="2"/>
            <a:endCxn id="73" idx="0"/>
          </p:cNvCxnSpPr>
          <p:nvPr/>
        </p:nvCxnSpPr>
        <p:spPr>
          <a:xfrm flipH="1">
            <a:off x="6043820" y="4376830"/>
            <a:ext cx="360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E8D53F83-79EF-68F9-98AE-DF594A9C4CF0}"/>
              </a:ext>
            </a:extLst>
          </p:cNvPr>
          <p:cNvCxnSpPr>
            <a:endCxn id="81" idx="0"/>
          </p:cNvCxnSpPr>
          <p:nvPr/>
        </p:nvCxnSpPr>
        <p:spPr>
          <a:xfrm flipH="1">
            <a:off x="7843820" y="4384994"/>
            <a:ext cx="1373659" cy="858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Gerade Verbindung mit Pfeil 159">
            <a:extLst>
              <a:ext uri="{FF2B5EF4-FFF2-40B4-BE49-F238E27FC236}">
                <a16:creationId xmlns:a16="http://schemas.microsoft.com/office/drawing/2014/main" id="{FD33473A-E1DB-1D84-58D4-9BC3B55381F2}"/>
              </a:ext>
            </a:extLst>
          </p:cNvPr>
          <p:cNvCxnSpPr>
            <a:endCxn id="85" idx="0"/>
          </p:cNvCxnSpPr>
          <p:nvPr/>
        </p:nvCxnSpPr>
        <p:spPr>
          <a:xfrm>
            <a:off x="8203820" y="4384994"/>
            <a:ext cx="360000" cy="858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CCE2C662-5849-BD89-733E-0CEC7DF05C9C}"/>
              </a:ext>
            </a:extLst>
          </p:cNvPr>
          <p:cNvCxnSpPr>
            <a:endCxn id="35" idx="0"/>
          </p:cNvCxnSpPr>
          <p:nvPr/>
        </p:nvCxnSpPr>
        <p:spPr>
          <a:xfrm flipH="1">
            <a:off x="2803820" y="4384994"/>
            <a:ext cx="5040000" cy="858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36FA666A-BBC5-746C-6F95-BC58C6535E32}"/>
              </a:ext>
            </a:extLst>
          </p:cNvPr>
          <p:cNvCxnSpPr>
            <a:stCxn id="127" idx="2"/>
            <a:endCxn id="37" idx="0"/>
          </p:cNvCxnSpPr>
          <p:nvPr/>
        </p:nvCxnSpPr>
        <p:spPr>
          <a:xfrm flipH="1">
            <a:off x="3523820" y="4376830"/>
            <a:ext cx="360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Gerade Verbindung mit Pfeil 162">
            <a:extLst>
              <a:ext uri="{FF2B5EF4-FFF2-40B4-BE49-F238E27FC236}">
                <a16:creationId xmlns:a16="http://schemas.microsoft.com/office/drawing/2014/main" id="{41A48939-FD80-84C6-E607-3780E5F5F977}"/>
              </a:ext>
            </a:extLst>
          </p:cNvPr>
          <p:cNvCxnSpPr>
            <a:stCxn id="115" idx="2"/>
            <a:endCxn id="83" idx="0"/>
          </p:cNvCxnSpPr>
          <p:nvPr/>
        </p:nvCxnSpPr>
        <p:spPr>
          <a:xfrm>
            <a:off x="4603820" y="4376830"/>
            <a:ext cx="3600000" cy="867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F7805F18-02D6-6C3E-29CD-4A3F6A7824DB}"/>
              </a:ext>
            </a:extLst>
          </p:cNvPr>
          <p:cNvSpPr txBox="1"/>
          <p:nvPr/>
        </p:nvSpPr>
        <p:spPr>
          <a:xfrm>
            <a:off x="1109080" y="5992297"/>
            <a:ext cx="5461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b="1" dirty="0"/>
              <a:t>Schlüssel: </a:t>
            </a:r>
            <a:r>
              <a:rPr lang="de-CH" sz="2000" dirty="0"/>
              <a:t>HAXMCIKZVTODPBLJGREUFYSNWQ</a:t>
            </a:r>
          </a:p>
        </p:txBody>
      </p:sp>
    </p:spTree>
    <p:extLst>
      <p:ext uri="{BB962C8B-B14F-4D97-AF65-F5344CB8AC3E}">
        <p14:creationId xmlns:p14="http://schemas.microsoft.com/office/powerpoint/2010/main" val="376376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AEE37-4B81-A317-37F5-2663AC633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516A7E-D04D-9D33-3792-C4B6A9AF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Zufällige monoalphabetische Substitution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D5953C-895C-A6D2-7E55-D3BDFF7C9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322379" cy="1603374"/>
          </a:xfrm>
        </p:spPr>
        <p:txBody>
          <a:bodyPr>
            <a:normAutofit/>
          </a:bodyPr>
          <a:lstStyle/>
          <a:p>
            <a:r>
              <a:rPr lang="de-CH" dirty="0"/>
              <a:t>Sehr grosser «Schlüsselraum»</a:t>
            </a:r>
          </a:p>
          <a:p>
            <a:pPr marL="457200" lvl="1" indent="0">
              <a:buNone/>
            </a:pPr>
            <a:r>
              <a:rPr lang="de-DE" dirty="0"/>
              <a:t>Wie viele verschiedene </a:t>
            </a:r>
            <a:r>
              <a:rPr lang="de-DE" b="1" dirty="0"/>
              <a:t>Substitutionszuordnungen</a:t>
            </a:r>
            <a:r>
              <a:rPr lang="de-DE" dirty="0"/>
              <a:t> gibt es? </a:t>
            </a:r>
            <a:br>
              <a:rPr lang="de-DE" dirty="0"/>
            </a:br>
            <a:r>
              <a:rPr lang="de-DE" dirty="0"/>
              <a:t>D. h. Wenn jeder Buchstabe im Klartextalphabet eindeutig mit einem Buchstaben im Geheimtextalphabet ersetzt wird.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162E0448-19F9-A809-2626-01C3361A10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754" y="3621879"/>
                <a:ext cx="6418004" cy="167708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e-CH" u="sng" dirty="0">
                    <a:solidFill>
                      <a:schemeClr val="accent1"/>
                    </a:solidFill>
                  </a:rPr>
                  <a:t>Lösung: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=26</m:t>
                      </m:r>
                      <m:r>
                        <a:rPr lang="de-CH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de-CH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de-CH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de-CH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de-CH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CH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CH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1≈</m:t>
                      </m:r>
                      <m:r>
                        <m:rPr>
                          <m:nor/>
                        </m:rPr>
                        <a:rPr lang="de-CH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400 000 000 000 000 000 000 000 000</m:t>
                      </m:r>
                      <m:r>
                        <a:rPr lang="de-CH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br>
                  <a:rPr lang="de-CH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de-CH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de-CH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 4 ∗ </m:t>
                    </m:r>
                    <m:sSup>
                      <m:sSupPr>
                        <m:ctrlPr>
                          <a:rPr lang="de-CH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CH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a:rPr lang="de-CH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de-CH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400 </m:t>
                    </m:r>
                    <m:r>
                      <m:rPr>
                        <m:sty m:val="p"/>
                      </m:rPr>
                      <a:rPr lang="de-CH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Quadrillionen</m:t>
                    </m:r>
                  </m:oMath>
                </a14:m>
                <a:r>
                  <a:rPr lang="de-CH" dirty="0">
                    <a:solidFill>
                      <a:schemeClr val="accent1"/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de-CH" dirty="0"/>
              </a:p>
              <a:p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endParaRPr lang="de-CH" dirty="0"/>
              </a:p>
              <a:p>
                <a:endParaRPr lang="de-CH" dirty="0"/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162E0448-19F9-A809-2626-01C3361A1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754" y="3621879"/>
                <a:ext cx="6418004" cy="1677084"/>
              </a:xfrm>
              <a:prstGeom prst="rect">
                <a:avLst/>
              </a:prstGeom>
              <a:blipFill>
                <a:blip r:embed="rId2"/>
                <a:stretch>
                  <a:fillRect l="-1972" t="-67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2">
                <a:extLst>
                  <a:ext uri="{FF2B5EF4-FFF2-40B4-BE49-F238E27FC236}">
                    <a16:creationId xmlns:a16="http://schemas.microsoft.com/office/drawing/2014/main" id="{BA9AE90B-DA83-8732-5EC9-8C082A8FD6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1078" y="5678121"/>
                <a:ext cx="7436590" cy="45228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e-CH" sz="2400" dirty="0">
                    <a:solidFill>
                      <a:schemeClr val="accent1"/>
                    </a:solidFill>
                  </a:rPr>
                  <a:t>Vergleich</a:t>
                </a:r>
                <a:r>
                  <a:rPr lang="de-CH" sz="2400" b="1" dirty="0">
                    <a:solidFill>
                      <a:schemeClr val="accent1"/>
                    </a:solidFill>
                  </a:rPr>
                  <a:t>: Sandkörner auf der Erde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ar-AE" sz="2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sz="2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CH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de-CH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m:rPr>
                        <m:sty m:val="p"/>
                      </m:rPr>
                      <a:rPr lang="de-CH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Trillion</m:t>
                    </m:r>
                    <m:r>
                      <a:rPr lang="de-CH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CH" sz="240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de-CH" dirty="0"/>
              </a:p>
              <a:p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CH" dirty="0"/>
              </a:p>
              <a:p>
                <a:endParaRPr lang="de-CH" dirty="0"/>
              </a:p>
              <a:p>
                <a:endParaRPr lang="de-CH" dirty="0"/>
              </a:p>
            </p:txBody>
          </p:sp>
        </mc:Choice>
        <mc:Fallback xmlns="">
          <p:sp>
            <p:nvSpPr>
              <p:cNvPr id="5" name="Inhaltsplatzhalter 2">
                <a:extLst>
                  <a:ext uri="{FF2B5EF4-FFF2-40B4-BE49-F238E27FC236}">
                    <a16:creationId xmlns:a16="http://schemas.microsoft.com/office/drawing/2014/main" id="{BA9AE90B-DA83-8732-5EC9-8C082A8FD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078" y="5678121"/>
                <a:ext cx="7436590" cy="452289"/>
              </a:xfrm>
              <a:prstGeom prst="rect">
                <a:avLst/>
              </a:prstGeom>
              <a:blipFill>
                <a:blip r:embed="rId3"/>
                <a:stretch>
                  <a:fillRect l="-1230" t="-17333" r="-410" b="-2400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Dünen: Wunder aus Sand und Physik | FAZ">
            <a:extLst>
              <a:ext uri="{FF2B5EF4-FFF2-40B4-BE49-F238E27FC236}">
                <a16:creationId xmlns:a16="http://schemas.microsoft.com/office/drawing/2014/main" id="{C6FA955C-473D-3D8C-6291-748EF33E3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6202" y="4114801"/>
            <a:ext cx="2809516" cy="1910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25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2A77-9D14-14A3-C162-762DC1A4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A10C7-9055-7CA4-298B-5C029A16A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Zufällige monoalphabetische Substitution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F05A2D-6C12-66EE-72B8-C71926C4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38708" cy="4351338"/>
          </a:xfrm>
        </p:spPr>
        <p:txBody>
          <a:bodyPr>
            <a:normAutofit/>
          </a:bodyPr>
          <a:lstStyle/>
          <a:p>
            <a:r>
              <a:rPr lang="de-CH" b="0" dirty="0"/>
              <a:t>Eine Brute-Force-Attacke für eine zufällige monoalphabetische Substitution ist </a:t>
            </a:r>
            <a:r>
              <a:rPr lang="de-CH" b="1" dirty="0"/>
              <a:t>extrem</a:t>
            </a:r>
            <a:r>
              <a:rPr lang="de-CH" dirty="0"/>
              <a:t> </a:t>
            </a:r>
            <a:r>
              <a:rPr lang="de-CH" b="1" dirty="0"/>
              <a:t>aufwändig</a:t>
            </a:r>
          </a:p>
          <a:p>
            <a:r>
              <a:rPr lang="de-CH" dirty="0"/>
              <a:t>Ist dieses Verschlüsselungsverfahren also </a:t>
            </a:r>
            <a:r>
              <a:rPr lang="de-CH" b="1" dirty="0"/>
              <a:t>sicher</a:t>
            </a:r>
            <a:r>
              <a:rPr lang="de-CH" dirty="0"/>
              <a:t>?</a:t>
            </a:r>
          </a:p>
          <a:p>
            <a:pPr marL="457200" lvl="1" indent="0">
              <a:buNone/>
            </a:pPr>
            <a:r>
              <a:rPr lang="de-CH" b="1" dirty="0">
                <a:solidFill>
                  <a:schemeClr val="accent1"/>
                </a:solidFill>
              </a:rPr>
              <a:t>Nein!</a:t>
            </a:r>
            <a:r>
              <a:rPr lang="de-CH" dirty="0">
                <a:solidFill>
                  <a:schemeClr val="accent1"/>
                </a:solidFill>
              </a:rPr>
              <a:t> </a:t>
            </a:r>
            <a:r>
              <a:rPr lang="de-CH" b="0" dirty="0">
                <a:solidFill>
                  <a:schemeClr val="accent1"/>
                </a:solidFill>
              </a:rPr>
              <a:t>Trotz grossem Schlüsselraum </a:t>
            </a:r>
            <a:r>
              <a:rPr lang="de-CH" dirty="0" err="1">
                <a:solidFill>
                  <a:schemeClr val="accent1"/>
                </a:solidFill>
              </a:rPr>
              <a:t>knackbar</a:t>
            </a:r>
            <a:r>
              <a:rPr lang="de-CH" b="0" dirty="0">
                <a:solidFill>
                  <a:schemeClr val="accent1"/>
                </a:solidFill>
              </a:rPr>
              <a:t>, aber wie?</a:t>
            </a:r>
          </a:p>
          <a:p>
            <a:endParaRPr lang="de-CH" b="0" dirty="0"/>
          </a:p>
          <a:p>
            <a:pPr marL="0" indent="0">
              <a:buNone/>
            </a:pPr>
            <a:endParaRPr lang="de-CH" dirty="0"/>
          </a:p>
          <a:p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78257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C64E0-86B8-A4D5-2AE3-F312515E9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CC2EC0-0E98-2B79-A401-CD6DC290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Monoalphabetische Substitution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F14CCAC-5726-CAEF-A11F-AD1682651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8E60B89A-4F47-4D07-2D9B-782107375C7C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Erkennt ihr bestimmte Muster?</a:t>
            </a:r>
          </a:p>
          <a:p>
            <a:pPr marL="457200" lvl="1" indent="0">
              <a:buNone/>
            </a:pPr>
            <a:r>
              <a:rPr lang="de-DE" dirty="0">
                <a:solidFill>
                  <a:schemeClr val="accent1"/>
                </a:solidFill>
              </a:rPr>
              <a:t>Unsere Sprache hat strukturelle Schwächen, die kryptoanalytische Angriffe erlauben:</a:t>
            </a:r>
            <a:r>
              <a:rPr lang="de-DE" sz="1000" dirty="0">
                <a:solidFill>
                  <a:schemeClr val="accent1"/>
                </a:solidFill>
              </a:rPr>
              <a:t> </a:t>
            </a:r>
            <a:br>
              <a:rPr lang="de-DE" sz="1000" dirty="0">
                <a:solidFill>
                  <a:schemeClr val="accent1"/>
                </a:solidFill>
              </a:rPr>
            </a:br>
            <a:br>
              <a:rPr lang="de-DE" sz="1000" dirty="0">
                <a:solidFill>
                  <a:schemeClr val="accent1"/>
                </a:solidFill>
              </a:rPr>
            </a:br>
            <a:r>
              <a:rPr lang="de-DE" sz="1000" dirty="0">
                <a:solidFill>
                  <a:schemeClr val="accent1"/>
                </a:solidFill>
              </a:rPr>
              <a:t>	</a:t>
            </a:r>
            <a:r>
              <a:rPr lang="de-DE" b="1" dirty="0">
                <a:solidFill>
                  <a:schemeClr val="accent1"/>
                </a:solidFill>
              </a:rPr>
              <a:t>z.B. Häufigkeitsanalyse</a:t>
            </a:r>
            <a:endParaRPr lang="de-DE" dirty="0">
              <a:solidFill>
                <a:schemeClr val="accent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27234AB-7465-F23D-BF5A-3AE283D518E0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22C74566-CADA-AB7E-E2B2-C7B9CD2A015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8EF797DB-3F5B-678A-3728-4C96C27B616B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3A728FA-66C8-7EBD-6F04-00E400F27448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</p:spTree>
    <p:extLst>
      <p:ext uri="{BB962C8B-B14F-4D97-AF65-F5344CB8AC3E}">
        <p14:creationId xmlns:p14="http://schemas.microsoft.com/office/powerpoint/2010/main" val="219368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1A58-6F49-26F7-30BF-17E0FCFEB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E697DC-28CD-AD4F-C8AA-8FD6B2D3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A96C9C4-2C6A-41F2-A93B-1232E6F25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4AA5FB9-E6B2-357F-4D43-4C40F22AA566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??????  ????????  ?????,  ???  ???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???  ????? ???????????????????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???  ??????????  ?????  ??????????????????  ????????????  ??????????  ????,  ????  ?????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????  ?????????  ???.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B7208027-9CA9-CB68-6847-D8FFBFC60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BC671CE-720D-B3AF-3D22-D9DFE933F0C1}"/>
              </a:ext>
            </a:extLst>
          </p:cNvPr>
          <p:cNvCxnSpPr>
            <a:cxnSpLocks/>
          </p:cNvCxnSpPr>
          <p:nvPr/>
        </p:nvCxnSpPr>
        <p:spPr>
          <a:xfrm flipV="1">
            <a:off x="7829549" y="440871"/>
            <a:ext cx="2392137" cy="1390763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erbinder: gekrümmt 7">
            <a:extLst>
              <a:ext uri="{FF2B5EF4-FFF2-40B4-BE49-F238E27FC236}">
                <a16:creationId xmlns:a16="http://schemas.microsoft.com/office/drawing/2014/main" id="{22912772-52DD-3809-CEF0-08D1220D6C83}"/>
              </a:ext>
            </a:extLst>
          </p:cNvPr>
          <p:cNvCxnSpPr>
            <a:cxnSpLocks/>
            <a:endCxn id="22" idx="0"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52141029-12FE-79ED-665F-E9A000A9F0A4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A4584036-3320-2A79-EA37-20EB91C40F17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2497026-6E25-9E72-972E-3D7EB7448A80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48C0029-6BBB-EC1A-3991-96652D0D623C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2FF570E7-939C-9E7A-651F-65FF6F8F80AE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hteck 29">
            <a:extLst>
              <a:ext uri="{FF2B5EF4-FFF2-40B4-BE49-F238E27FC236}">
                <a16:creationId xmlns:a16="http://schemas.microsoft.com/office/drawing/2014/main" id="{3242C6FA-01DA-3224-EB45-FA0883E4D0B5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chemeClr val="accent1"/>
                </a:solidFill>
              </a:rPr>
              <a:t>E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98D865ED-9C3C-C5B3-4D96-E9700333B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7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6E8D2-DC51-7542-CFC6-C7C1D022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8D7164-E108-3F6F-C93F-4A07217C7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92E8812-DD29-DA39-19BF-89AEC3BA1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3E4C373-63B5-D149-E6B5-D202875BEB52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??E?E?  ?E????E?  ?E???,  ??E  ???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???  E??E? ??E?????E?????????E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  ?E?E???E??  E??E?  ?????????E??????E?  ????????????  E??????E??  ????,  ?E??  ?E???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???????E?  ???.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986E049-B2B0-EC24-B754-2190AA95A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C75AB65E-92BF-781C-1A28-6DB18CA96536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DCE3F73-B33A-C805-A608-6DDDB8093DFC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0A01922-10DD-541F-3F2A-F3AB7E307256}"/>
              </a:ext>
            </a:extLst>
          </p:cNvPr>
          <p:cNvSpPr/>
          <p:nvPr/>
        </p:nvSpPr>
        <p:spPr>
          <a:xfrm>
            <a:off x="277586" y="436471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D6E4F7C-6564-FE75-16D0-9D1A520D42DB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C31C8E65-53D6-7640-DC7D-CAB715227D9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Verbinder: gekrümmt 12">
            <a:extLst>
              <a:ext uri="{FF2B5EF4-FFF2-40B4-BE49-F238E27FC236}">
                <a16:creationId xmlns:a16="http://schemas.microsoft.com/office/drawing/2014/main" id="{E508455A-E006-61A0-00BD-EC653A660FC2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5B2095D5-5B0D-CB8B-5A87-30EF13D4832C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7031CF5-5BCA-32CB-FD06-B1AB5B7F0251}"/>
              </a:ext>
            </a:extLst>
          </p:cNvPr>
          <p:cNvCxnSpPr>
            <a:cxnSpLocks/>
          </p:cNvCxnSpPr>
          <p:nvPr/>
        </p:nvCxnSpPr>
        <p:spPr>
          <a:xfrm flipV="1">
            <a:off x="7829549" y="440871"/>
            <a:ext cx="2392137" cy="1390763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4B49FF67-3052-EA45-B0EA-3B87309D1669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chemeClr val="accent1"/>
                </a:solidFill>
              </a:rPr>
              <a:t>E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1AFDBC73-73EF-8AB2-5A0C-1A5107DD9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3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86FBF-A84D-BB5E-C5FF-8174DF99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B5F5F7-D2DE-5540-A28A-F672CF2D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2151123-3765-603F-E469-430328BE5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16A197E4-6882-5939-586A-27B172A60843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??E?E?  ?E????E?  ?E???,  ??E  ???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???  E??E? ??E?????E?????????E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  ?E?E???E??  E??E?  ?????????E??????E?  ????????????  E??????E??  ????,  ?E??  ?E???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???????E?  ???.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057E1366-07BC-AE59-BE6E-5517D0C45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285E2859-FA8A-2CB4-3782-67CD6A176ED1}"/>
              </a:ext>
            </a:extLst>
          </p:cNvPr>
          <p:cNvCxnSpPr>
            <a:cxnSpLocks/>
          </p:cNvCxnSpPr>
          <p:nvPr/>
        </p:nvCxnSpPr>
        <p:spPr>
          <a:xfrm flipV="1">
            <a:off x="7845155" y="658101"/>
            <a:ext cx="2392137" cy="1390763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54E7B96-75B1-0A01-4A97-77B6CF174792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FB895D5-6593-32D2-B059-7BB444605FEA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E7F4CEB-E23A-2662-EDA8-B264D5CC88DC}"/>
              </a:ext>
            </a:extLst>
          </p:cNvPr>
          <p:cNvSpPr/>
          <p:nvPr/>
        </p:nvSpPr>
        <p:spPr>
          <a:xfrm>
            <a:off x="277586" y="436471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D226B80-6146-98D6-F480-48F78AC373FD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A2E352F4-E41D-8B57-0E13-3D0210D2C13D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Verbinder: gekrümmt 12">
            <a:extLst>
              <a:ext uri="{FF2B5EF4-FFF2-40B4-BE49-F238E27FC236}">
                <a16:creationId xmlns:a16="http://schemas.microsoft.com/office/drawing/2014/main" id="{9B55B34D-CD57-5559-9927-954C42A813E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3C99D26B-ABA6-2D06-1E07-04C53C81F931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AD0C1BC-9B19-4F9A-E816-01EDB3B4F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9FFBDD30-BE59-7AE3-B8CA-E3AEE4B1F7E1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90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CD859-7B23-EAA1-88E1-31C6D3A09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A2D39-D0C9-B042-C8E7-F0AFDA7C4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1A9DAD0-2884-35DC-9EBA-AB2A4A7D1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55A34A7E-BF3F-AE4C-27D5-1C08EE2872B5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7D4FAB09-AE30-3340-4E20-4BB5307447DB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??E?E?  ?E????E?  ?E???,  ??E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???  E?NE? ??E?????E????N????E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?EN  ?E?E???E??  E?NE?  ??N??????E??????EN  ???????????N  EN?????E?N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?????N?EN  ???.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D3308212-2EA8-9E7F-B224-A912C645E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2157BB6F-D7D4-1803-4FA8-FBF036E44800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A2BB6A9-582D-45F7-269A-C25D41DEACA3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72CBD96-BA9F-4AE9-2DCA-AA47CF5645D9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F6AF6B0-B6DC-4761-CBFA-4232BFA58B7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erbinder: gekrümmt 7">
            <a:extLst>
              <a:ext uri="{FF2B5EF4-FFF2-40B4-BE49-F238E27FC236}">
                <a16:creationId xmlns:a16="http://schemas.microsoft.com/office/drawing/2014/main" id="{54244523-DEE5-21C3-2236-F9FC6A33575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B7798D93-5F43-69F5-7F64-89D249146BC6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BF5B44D-36F2-CAC2-0042-783AAE5FCEE9}"/>
              </a:ext>
            </a:extLst>
          </p:cNvPr>
          <p:cNvCxnSpPr>
            <a:cxnSpLocks/>
          </p:cNvCxnSpPr>
          <p:nvPr/>
        </p:nvCxnSpPr>
        <p:spPr>
          <a:xfrm flipV="1">
            <a:off x="7845155" y="658101"/>
            <a:ext cx="2392137" cy="1390763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2D85E17A-C6FF-1C42-5C43-51BF5FBD4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B3FE6BF6-2729-D936-7F6D-0ED0785B27F8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06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A7E15-13EF-D0B8-3A3B-B4EBA0C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0B3B31-3804-74D0-A917-675AB11E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B934655-CFA3-361E-584F-4CEDFC534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7138D4A-B2BF-86F9-70D5-6245D8559532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DFF50EB-5802-101E-EE62-9FAEDE6070D9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??E?E?  ?E????E?  ?E???,  ??E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???  E?NE? ??E?????E????N????E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?EN  ?E?E???E??  E?NE?  ??N??????E??????EN  ???????????N  EN?????E?N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?????N?EN  ???.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D29C6128-55A7-EF8F-AF24-A80A4BD17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877C174-9B6F-C187-0F15-520562D5519A}"/>
              </a:ext>
            </a:extLst>
          </p:cNvPr>
          <p:cNvCxnSpPr>
            <a:cxnSpLocks/>
          </p:cNvCxnSpPr>
          <p:nvPr/>
        </p:nvCxnSpPr>
        <p:spPr>
          <a:xfrm flipV="1">
            <a:off x="7845155" y="889706"/>
            <a:ext cx="2392137" cy="1390763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0778C9C8-5748-F750-8EED-BFDE20ADB4BE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4762E43-A824-1D58-F61C-7149469FF5D0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B75DD36-3081-ED13-30B6-AFBA838D1C5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erbinder: gekrümmt 7">
            <a:extLst>
              <a:ext uri="{FF2B5EF4-FFF2-40B4-BE49-F238E27FC236}">
                <a16:creationId xmlns:a16="http://schemas.microsoft.com/office/drawing/2014/main" id="{124E47A3-76A9-9108-6AF4-1CE6C416C9EB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8E6DB4D6-B851-205C-1164-FD98A139A209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A18A30EC-539C-AA6F-8A53-D3DB933E9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9A637CBA-9576-BBF0-7067-268416DE9BDC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E9DEF31-50C7-0E92-3229-588DB0DEDB65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080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11E45-4C19-8B6D-0535-9181354A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93710-7953-4428-AFD2-A7B3BB64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407BB80-6F7C-1D8B-2534-3EB1F03B5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6D4CAD86-4F22-3CC5-A383-BD3E6E41BD90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11F14F6-2600-A5BC-82E9-B801CF4A747B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?IE?E?  ?EI??IE!  ?EI??,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?I?  EINE? ??E??I??EI???N????E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?EN  ?E?EI??E??  EINE?  ??N???????E?I???EN  ?????I???I?N  EN??I??E?N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?????N?EN  I??.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4D606B91-DF4B-CE40-6121-2EA1EE0A0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C3C2EF93-2181-BBA9-CA6B-C02844AB8D16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570C4D7-A282-C25D-83E4-751FE95B0642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5611A80-87FE-312C-8C89-BBADC56EA1C2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F05375E3-7471-E245-0F2B-9D6296628EC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B64B3B5D-377B-1FE8-2322-64ED7C794868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ED2E6558-F0D4-7008-3938-4FC6764C0648}"/>
              </a:ext>
            </a:extLst>
          </p:cNvPr>
          <p:cNvCxnSpPr>
            <a:cxnSpLocks/>
          </p:cNvCxnSpPr>
          <p:nvPr/>
        </p:nvCxnSpPr>
        <p:spPr>
          <a:xfrm flipV="1">
            <a:off x="7845155" y="889706"/>
            <a:ext cx="2392137" cy="1390763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AD9F92BE-0646-3DE2-3D5D-D039FA2CA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987BF694-D008-4DD0-021E-E55F0243D09A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8AA6B33-5294-6034-717D-E15613AE77CF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1635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E5040-21EB-2555-D7E6-220903B4E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36C3B-AADC-E65A-2A83-8553ACCD3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D760F65-FE5B-AF5B-697A-E8E2CD68A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E2868BF-0F4F-AE23-B46A-2D3E2E440841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9E7EE471-D27D-501A-C6F7-731BC53045F7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?IE?E?  ?EI??IE!  ?EI??,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?I?  EINE? ??E??I??EI???N????E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?EN  ?E?EI??E??  EINE?  ??N???????E?I???EN  ?????I???I?N  EN??I??E?N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?????N?EN  I??.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0678A5A-7BE7-AF4C-B3FD-AB3D03C9A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F1718C2E-836F-3E0F-441D-9C67D3B500F8}"/>
              </a:ext>
            </a:extLst>
          </p:cNvPr>
          <p:cNvCxnSpPr>
            <a:cxnSpLocks/>
          </p:cNvCxnSpPr>
          <p:nvPr/>
        </p:nvCxnSpPr>
        <p:spPr>
          <a:xfrm flipV="1">
            <a:off x="7809501" y="1123126"/>
            <a:ext cx="2415906" cy="1324031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B1D82DB3-06C4-BD88-F1C7-8DCA0C60C4F0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170E536-F76A-5F29-6E5C-41DF2417BFA7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7DB7FEB-2334-6D45-97C8-239FF308ADB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AE6A58C9-2CB9-3397-423E-B080396AD0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60F9FF0A-1A18-3CD2-5529-82546F694FF1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E4D0D53-1478-B00F-FB6F-B731EA79E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9A31A459-EA65-57CE-1F80-DE702817C953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ACCCEC-AE4E-40C4-1F76-44F38240D922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8424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E3348-C690-FD33-62CE-351816F1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4DF37A-3FF7-51C9-278F-517ACE49E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FA0BDAE-A328-8C5A-3C68-35ED9DAD4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2B8F758-247A-E48E-F685-4B7BAFF05D47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9B6ADF7A-B4A0-8487-CD6F-2A3590898C2A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?IE?E?  ?EI??IE!  ?EI?S,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?IS  EINE? ??E??I??EIS??N????E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?EN  ?E?EI?SE?S  EINE?  ??N???????ESI???EN  ????SI?S?I?N  ENS?I??E?N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SE?S  ?????N?EN  I?S.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4BB8B38-75BE-B7C7-F09B-6D8E205F6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0728F848-CCBC-D63E-FEF2-130EFFE95094}"/>
              </a:ext>
            </a:extLst>
          </p:cNvPr>
          <p:cNvCxnSpPr>
            <a:cxnSpLocks/>
          </p:cNvCxnSpPr>
          <p:nvPr/>
        </p:nvCxnSpPr>
        <p:spPr>
          <a:xfrm flipV="1">
            <a:off x="7809501" y="1123126"/>
            <a:ext cx="2415906" cy="1324031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7E026525-3F75-9FA6-BC3A-E2E511C82ABB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7F6D29C-FEB1-BE20-9C40-6992660C5191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1238587-3105-268C-A201-4368B2494BBF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948BA99D-2A5B-EEFE-4A7E-62D06B44CA9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8B24DAEA-CA6A-1749-013A-9A43FB3C5198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0DF686C-9CFC-F1EF-E18D-3E76A603B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D06B4FD7-2F7E-E364-8D43-5D0E682414AA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7E46399-6E3B-4600-14CE-C49A7CAA0980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211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A767-1BFD-69EC-3875-3DE8A4541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F7358E-ED6E-EF33-6382-3FC414B30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BC10AB9-66FD-2B56-FDAC-20A1A152F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E0C570A-6F3B-B765-3269-4FF5E680DA56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9D0965C-5F61-445F-54C4-22BEECA864D0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?IE?E?  ?EI??IE!  ?EI?S,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?IS  EINE? ??E??I??EIS??N????E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?EN  ?E?EI?SE?S  EINE?  ??N???????ESI???EN  ????SI?S?I?N  </a:t>
            </a: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ENS?I??E?N</a:t>
            </a:r>
            <a:r>
              <a:rPr lang="de-DE" sz="2600" dirty="0">
                <a:solidFill>
                  <a:srgbClr val="0070C0"/>
                </a:solidFill>
              </a:rPr>
              <a:t>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SE?S  ?????N?EN  I?S.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211A5E01-51DE-80B2-0B92-B884D653B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B34FA0F3-3654-0FF1-8E0E-02D27F119982}"/>
              </a:ext>
            </a:extLst>
          </p:cNvPr>
          <p:cNvCxnSpPr>
            <a:cxnSpLocks/>
          </p:cNvCxnSpPr>
          <p:nvPr/>
        </p:nvCxnSpPr>
        <p:spPr>
          <a:xfrm flipV="1">
            <a:off x="7809501" y="1123126"/>
            <a:ext cx="2415906" cy="1324031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90590002-CCB8-F42F-8520-8FFF06161AFA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69AD0EE-606A-D2CB-84B0-CAE315272F5E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714578E-4D8C-DDA2-C675-27197DFEB37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2E36F3AF-4985-AEA3-89EB-CAD1DB89E3B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34A7648B-7721-7A3B-A5DC-89767ADA9841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11" name="Grafik 10" descr="Hochspannung mit einfarbiger Füllung">
            <a:extLst>
              <a:ext uri="{FF2B5EF4-FFF2-40B4-BE49-F238E27FC236}">
                <a16:creationId xmlns:a16="http://schemas.microsoft.com/office/drawing/2014/main" id="{ECC3D00B-731A-8E69-2851-E1D87E8F5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61859" y="5698673"/>
            <a:ext cx="914400" cy="914400"/>
          </a:xfrm>
          <a:prstGeom prst="rect">
            <a:avLst/>
          </a:prstGeom>
          <a:effectLst>
            <a:glow rad="101600">
              <a:srgbClr val="FFFF00">
                <a:alpha val="60000"/>
              </a:srgbClr>
            </a:glow>
          </a:effectLst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3BFDF823-A546-142C-FABE-3485598A84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9A65DC21-3633-10D6-EA5A-9E39318FC4FC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83880B2-5D4E-98CA-17C2-4D6D214D9F5F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25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02330-7208-14D9-CB68-E2CD7924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A2AD4F-B0AA-1041-C91A-18BDA6E7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5FDB72B1-2F1A-82FF-BF3C-4D142284E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E94F824-35DE-2CE2-54C4-56E7DA4E3E9C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2341A0DD-5F0B-86A7-0D20-2C133509B387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?IE?E?  ?EI??IE!  ?EI?S,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?IS  EINE? ??E??I??EIS??N????E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?EN  ?E?EI?SE?S  EINE?  ??N???????ESI???EN  ????SI?S?I?N  </a:t>
            </a: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ENS?I??E?N</a:t>
            </a:r>
            <a:r>
              <a:rPr lang="de-DE" sz="2600" dirty="0">
                <a:solidFill>
                  <a:srgbClr val="0070C0"/>
                </a:solidFill>
              </a:rPr>
              <a:t>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SE?S  ?????N?EN  I?S.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4BE91CEC-ED5F-CB16-D584-D1E2064E7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05050198-8757-997F-6D74-48A92BC22B98}"/>
              </a:ext>
            </a:extLst>
          </p:cNvPr>
          <p:cNvCxnSpPr>
            <a:cxnSpLocks/>
          </p:cNvCxnSpPr>
          <p:nvPr/>
        </p:nvCxnSpPr>
        <p:spPr>
          <a:xfrm flipV="1">
            <a:off x="7809501" y="1123126"/>
            <a:ext cx="2415906" cy="1324031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307FC4D0-7048-3EAF-6F35-61BF3342E5A3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1FD8B10-719E-DEF6-46F8-3F35B3D5E44F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E12ADD65-BD18-544E-39E7-227DCE41DCEE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E9A9905E-15D0-61FC-F631-8AD40DDC20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1F09D977-0243-9FD4-E6E0-19144FE53770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11" name="Grafik 10" descr="Hochspannung mit einfarbiger Füllung">
            <a:extLst>
              <a:ext uri="{FF2B5EF4-FFF2-40B4-BE49-F238E27FC236}">
                <a16:creationId xmlns:a16="http://schemas.microsoft.com/office/drawing/2014/main" id="{693B8AB7-5766-3712-E8DB-53538D5828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61859" y="5698673"/>
            <a:ext cx="914400" cy="914400"/>
          </a:xfrm>
          <a:prstGeom prst="rect">
            <a:avLst/>
          </a:prstGeom>
          <a:effectLst>
            <a:glow rad="101600">
              <a:srgbClr val="FFFF00">
                <a:alpha val="60000"/>
              </a:srgbClr>
            </a:glow>
          </a:effectLst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447A4F4-26AB-2EA5-D3C5-94C92C69EB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8E8BA34D-B8B9-C786-47BB-572FDA56E3BF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6CFC6E1-78FD-32EC-479F-9F8DE6EB66BC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strike="sngStrike" dirty="0">
                <a:solidFill>
                  <a:srgbClr val="C00000"/>
                </a:solidFill>
              </a:rPr>
              <a:t>Q</a:t>
            </a:r>
            <a:r>
              <a:rPr lang="de-CH" sz="2400" strike="sngStrike" dirty="0">
                <a:solidFill>
                  <a:schemeClr val="tx1"/>
                </a:solidFill>
              </a:rPr>
              <a:t>=</a:t>
            </a:r>
            <a:r>
              <a:rPr lang="de-CH" sz="2400" strike="sngStrike" dirty="0">
                <a:solidFill>
                  <a:srgbClr val="0070C0"/>
                </a:solidFill>
              </a:rPr>
              <a:t>S</a:t>
            </a:r>
            <a:endParaRPr lang="de-CH" sz="2400" strike="sngStrike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37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C4F77-FE72-E535-7B64-C97687B11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FB3130-6D99-69CB-711F-C0696B64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46E09B6-4F9C-90CC-F230-C1EB74F3C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29FB4C-2883-4499-A3C3-C25C62E68C1B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0AB6B7C1-6908-0D41-57B7-3D63C4752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5AF72649-9CA1-492E-305A-47C9239223DC}"/>
              </a:ext>
            </a:extLst>
          </p:cNvPr>
          <p:cNvCxnSpPr>
            <a:cxnSpLocks/>
          </p:cNvCxnSpPr>
          <p:nvPr/>
        </p:nvCxnSpPr>
        <p:spPr>
          <a:xfrm flipV="1">
            <a:off x="7809501" y="1123126"/>
            <a:ext cx="2415906" cy="1324031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58D2FC2C-3DE3-2106-87C5-EE4B7BDB04D9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6E19D6A-678F-08B3-F744-9BCD1B789121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AD389BB6-0468-32FB-A8CC-DC44F9A7840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5F1409D0-2364-EB5F-07A8-65C78B3F9D1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CEB3871D-8944-A647-8C40-3F722CCA0CC2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50B9F5-2757-147F-1169-79B3953F010C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?IE?E?  ?EI??IE!  ?EI??,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?I?  EINE? ??E??I??EI???N????E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?EN  ?E?EI??E??  EINE?  ??N???????E?I???EN  ?????I???I?N  EN??I??E?N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?????N?EN  I??.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6265AA6-8C0F-2EC7-3736-CB338B1D2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85489362-4A7E-D3C8-5E03-D6A9721BCDED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CF43266-2AD8-6703-8A9A-B9519B89A06B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4528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3948-DCCE-FF57-5FD4-53297242D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25743-BD22-EFE9-9CDE-B8ED0B39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81352A3-23C2-C914-706F-94046030F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C45E80E-1901-A7A1-BF94-23CC0ACD8BF7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9929761B-5DAB-B5FE-D69E-40D6C7324F1B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?IE?E?  ?EI??IE!  ?EI??,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?I?  EINE? ??E??I??EI???N????E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?EN  ?E?EI??E??  EINE?  ??N???????E?I???EN  ?????I???I?N  EN??I??E?N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?????N?EN  I??.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88FCED7-D5DD-D251-C158-DB2CF0BAE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8BEAC0FA-2450-EDFD-3EFC-C30F51BEF5E3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3C1DA04-F2EF-CAB2-148E-FFEEC412A1CE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321F08F-5713-32C2-D8B6-4DDDB46A161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EE02ED61-5858-69A2-FA00-FAB13AB663E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1AE20C90-08F9-CA5B-F2C6-2F1296A6C0AA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F7553530-3053-1B02-48EB-D66D6438C733}"/>
              </a:ext>
            </a:extLst>
          </p:cNvPr>
          <p:cNvCxnSpPr>
            <a:cxnSpLocks/>
          </p:cNvCxnSpPr>
          <p:nvPr/>
        </p:nvCxnSpPr>
        <p:spPr>
          <a:xfrm flipV="1">
            <a:off x="7837714" y="1123126"/>
            <a:ext cx="2387693" cy="1530267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4DD03B09-11B3-A935-A134-A1768F18F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7A9419A6-6991-01E5-AD68-F50EE1D520CE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390B094-5709-ED3F-81A3-34CF7B48DCC1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8975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753E0-0FE6-0D27-F8D4-839E13413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8B8158-B6F4-86C5-F51F-E52175C3A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A3881F2-0CD0-09CF-52B8-1ACDF6792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3525DDD-7AC2-504D-8F15-2F9D608AC8A0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10A1ABC0-4602-7A7E-5FC2-BAD28E7F4EC7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?IESES  ?EIS?IE!  ?EI??,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?I?  EINE? ??E??I??EI?S?N???SE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?EN  ?E?EI??E??  EINE?  ??N???????E?IS??EN  S??S?I???I?N  EN??I??E?N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?????N?EN  IS?.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CCD7547-69A8-A97E-70C7-EBACB9A59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37064A1B-F59B-AD4A-5660-3EF89C1D8B75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0924250-B3A0-BE83-A4E6-1DE5C0769950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D21281F-8CA5-D2EA-1C15-7631A9469A1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EF12F740-1D85-F4FE-8A38-9D5C5182A05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523C84C1-6D2A-A53F-D833-C169B70C7773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54EFB21-2D32-E45F-B7B6-084F64A0E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6DD4F11B-CD90-ACB5-F48A-42E38C844A33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654A5071-754B-E66D-265F-65D11C8ACA41}"/>
              </a:ext>
            </a:extLst>
          </p:cNvPr>
          <p:cNvCxnSpPr>
            <a:cxnSpLocks/>
          </p:cNvCxnSpPr>
          <p:nvPr/>
        </p:nvCxnSpPr>
        <p:spPr>
          <a:xfrm flipV="1">
            <a:off x="7837714" y="1123126"/>
            <a:ext cx="2387693" cy="1530267"/>
          </a:xfrm>
          <a:prstGeom prst="straightConnector1">
            <a:avLst/>
          </a:prstGeom>
          <a:ln w="41275">
            <a:solidFill>
              <a:schemeClr val="tx1">
                <a:alpha val="8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2364E513-6AE4-6C28-1A76-24F785A50D58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2759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B0995-5E59-3926-C9B0-FF3C1072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8D3009-D1BF-AF86-F816-245889BA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1830F1D-373B-F3DF-0D88-8DECB0D7B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0BB046D-0D75-C6DC-B998-B25CA3446AC9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BAE97C5D-6EC3-EB0B-132D-DD1668839086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?IESES</a:t>
            </a:r>
            <a:r>
              <a:rPr lang="de-DE" sz="2600" dirty="0">
                <a:solidFill>
                  <a:srgbClr val="0070C0"/>
                </a:solidFill>
              </a:rPr>
              <a:t>  ?EIS?IE!  ?EI??,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?I?  EINE? ??E??I??EI?S?N???SE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?EN  ?E?EI??E??  EINE?  ??N???????E?IS??EN  S??S?I???I?N  EN??I??E?N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?????N?EN  IS?.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CD3C5592-DCCA-DA8E-7457-8A0C2EAE2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16E6187-94D8-61E2-7674-2700510D420E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B5325BF-3555-A240-96CE-C3FE5D3AA9A9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CC6EC0F7-C206-D156-42BF-4FE5F181992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9CA3911B-E482-6D8E-5335-6730CBACB65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F82B5B92-8E98-E618-9768-5EE4CB264E64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515C844-A135-98C5-B531-12C9F9290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D0F077B9-F743-3305-F7F2-1E79758C832C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69B8DBD-0A7E-F244-CB1B-6CD3109B5F13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4105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9A90-5450-B4CE-5C03-D91E6D85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E2B06A-9DE7-2CA2-E2C4-A3BD1CE65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95EC26E-E2ED-8202-F8B8-C36774116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6F7F240A-A8BB-B582-0B20-7BED051819BB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227B60B0-5325-EEB0-B2BE-0C559DF4EF4C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?IESES</a:t>
            </a:r>
            <a:r>
              <a:rPr lang="de-DE" sz="2600" dirty="0">
                <a:solidFill>
                  <a:srgbClr val="0070C0"/>
                </a:solidFill>
              </a:rPr>
              <a:t>  ?EIS?IE!  ?EI??,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?I?  EINE? ??E??I??EI?S?N???SE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?EN  ?E?EI??E??  EINE?  ??N???????E?IS??EN  S??S?I???I?N  EN??I??E?N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?????N?EN  IS?.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1E5069D-CE6B-534C-89C0-20BA27DD3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8F174F7-1CF4-E888-5484-DC990336E212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DC103E6-5F81-2549-51C0-8074D353AB0D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E1B0654-641A-CCE2-F512-A826D2F9E8B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06B86E5A-C099-9D05-C44D-6A68C7C7F3C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19095DD3-8DF9-C83F-1BF5-551DF3825D40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2427F5D-9890-8D25-0557-185E9F1CD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4A4549A5-AFF2-984D-A8CD-795969F4A4CB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6365E5E-2E40-42BD-453D-2921711140BD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499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C9421-665A-0442-7E12-E4D4D0586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A93EF5-BD6C-D5AD-0774-D006DEF5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F87C9D7-0354-2194-7337-1892C8A86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0CFCF272-EC03-AF5C-E13A-68D6BFB0944C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C8DF27F7-D423-B42B-B3AB-D390D61B7892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?EIS?IE!  ?EI??,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?I?  EINE? ??E??I??EI?S?N???SE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?E?EI??E??  EINE?  ??N???????E?IS??EN  S??S?I???I?N  EN??I??E?N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?????NDEN  IS?.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CE7A04B6-DE5E-5AB9-7015-678F73EC5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23EBBC17-A98E-F72A-5232-D87C8B493EDC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FA61B94-C545-EC1A-BECC-8F64F6487405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D82D383-7522-9A9B-1B20-3A9330FFE75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D1B60A28-36B7-71BB-FB68-5A224740938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82E68946-AB7F-8CC2-9B3D-87EA18167C1C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317D20A-BA3D-29F3-FFA6-A4D023B11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4618FAC2-5B3B-33DA-6F61-3C27C305E153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6D3109B-96D5-8A08-1DED-9A00A08BE44B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6560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F564F-AB61-2DD2-0AFB-598A30414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7F9DC1-575F-7CCB-04DB-D612A2A1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CD08B4F-7707-FD6F-9B6B-55DDF541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0905F13-448E-138D-0743-596A766F51F5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E97609F4-DBD1-993B-5141-11A64D10625D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?EIS?IE!  ?EI??,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?I?  EINE? ??E??I??EI?S?N???SE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?E?EI??E??  EINE?  ??N???????E?IS??EN  S??S?I???I?N  EN??I??E?N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?????NDEN  </a:t>
            </a: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IS?</a:t>
            </a:r>
            <a:r>
              <a:rPr lang="de-DE" sz="2600" dirty="0">
                <a:solidFill>
                  <a:srgbClr val="0070C0"/>
                </a:solidFill>
              </a:rPr>
              <a:t>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2DE99A28-B23B-3465-C5CE-3B860A36E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0DA381B9-60CA-2766-AA2F-BF66830FE88C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9B47081-8D88-A58D-FA27-4627E3400595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5DE052D-BD12-24BD-55DE-057E520F650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3DF46CBF-4FC6-5D89-9192-D18DABEB2EFB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0796CD66-DB8E-475C-BA16-0CC3740C3313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2A30C04-2FFD-348F-5AA1-3237A6992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CFE473CC-D696-B7EE-6ADF-015349D2B0DB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8FCE1AC-52FD-0990-5588-0055DB8AE9FB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3229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0567C-39F3-5006-C7AA-EDECAFA8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23B18-5BFC-B84C-46CE-0FE309E96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1E6F4C-4458-4521-34F3-B7CBC83AF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E55405F-881A-B93E-0E95-C93F34BBE376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595266B6-E5D6-66FA-CC08-B82EACA1D54B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?EIS?IE!  ?EI??,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?I?  EINE? ??E??I??EI?S?N???SE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?E?EI??E??  EINE?  ??N???????E?IS??EN  S??S?I???I?N  EN??I??E?N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?E??  ?????NDEN  </a:t>
            </a: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IS?</a:t>
            </a:r>
            <a:r>
              <a:rPr lang="de-DE" sz="2600" dirty="0">
                <a:solidFill>
                  <a:srgbClr val="0070C0"/>
                </a:solidFill>
              </a:rPr>
              <a:t>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6E69DC42-638F-39CD-C7E4-30C946CDA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1737C0BD-E547-39FD-A39F-3F22E893E821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8BD8655-7CBF-5432-95E6-B377246A912B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AB79B98-F752-09E2-EED9-DACA5810852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D93E7E84-F49E-2821-B270-26CAD4647A3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4032F92A-12B7-07BC-75CC-F897CFB16400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90A06DC-C5D2-DB30-7E51-652E49F04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C31E6CDE-D710-C375-5DB1-E346D5CCE4CC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E762013-51E2-C55C-D250-EF435CEBD975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2565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E1F5C-ECEB-4F8F-2F99-65A39F844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AE198-8800-BAFB-7CAD-33B05FC2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D3B37E3-47B0-E9F3-E5D8-6593AFD59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3D2E7C6F-D407-0FDE-18DF-0493A3298D48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972DF020-AE63-104E-BDCE-6F28961A5FD5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?EIS?IE!  ?EI?T,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?IT  EINE? ??E??I??EI?S?N???SE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?E?EI?TE?T  EINE?  ??N???????ETIS??EN  </a:t>
            </a: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S??STIT?TI?N</a:t>
            </a:r>
            <a:r>
              <a:rPr lang="de-DE" sz="2600" dirty="0">
                <a:solidFill>
                  <a:srgbClr val="0070C0"/>
                </a:solidFill>
              </a:rPr>
              <a:t>  ENT?I??E?N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TE?T  ?????NDEN  IST.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EEA9108-11CF-DFD5-4F09-2E65245AE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6A0EA303-2F71-C219-A07F-1DF1139FA5ED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A66E3E2-06BC-C9CF-7056-4CE7143E1C52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65651D3-C529-0227-CBDE-BF78568D8E0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760C0E23-2133-8186-BE0A-2E0C4E7222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EB6D0D66-1190-81D9-812A-E07D3B39B385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8A53B4-547E-1B30-AE0E-7A252ADF9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086F0045-FECD-D5DF-862E-D98BCAA4DC87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85A1A46-4B1D-92FC-8ADC-1994E0B054B2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3996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93289-1B8C-DD64-F263-33861137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1CF6B-04E7-FF17-BBE3-02B920DD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D8DBC58-A3D3-4D4E-1B15-52C6196A9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11CA774-C9F2-7C00-6329-DC2560E19163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01032D72-6DB2-E85B-D954-58C5343B7232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?EIS?IE!  ?EI?T,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?IT  EINE? ??E??I??EI?S?N???SE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?E?EI?TE?T  EINE?  ??N???????ETIS??EN  </a:t>
            </a: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SUBSTITUTION</a:t>
            </a:r>
            <a:r>
              <a:rPr lang="de-DE" sz="2600" dirty="0">
                <a:solidFill>
                  <a:srgbClr val="0070C0"/>
                </a:solidFill>
              </a:rPr>
              <a:t>  ENT?I??E?N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TE?T  ?????NDEN  IST.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A5596D3-AD0E-8D1E-ABA4-28D9BFE03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E154776-16C0-840E-AB7E-3C1F2E9E6065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5028821-F79C-DEC2-57DC-F86466DA899E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F5EC5858-CDE4-4488-8820-F490C24CE9DE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5A4A367F-29FF-A088-9C66-72DD205E03B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5446C19D-11E9-94DE-1194-7C043DFD9881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95EAC2E-C851-BE52-91FA-80EA405CF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20EE1D66-52A1-908C-90AF-0E4BD615C86D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0E34474-3A95-2A2C-4549-FFF54F261916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9614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B8C9-2C4B-7490-AD56-8E057D1E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8EBFDD-618F-8583-FCD6-A3236103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648DF0B-F5E3-4208-ED1C-725E519CF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A21B642-02F3-C564-484E-7F9AF907D31B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F9EAC666-88A8-315D-76DC-4731E8904F0B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?EIS?IE!  ?EI?T,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?IT  EINE? ??E??I??EI?S?N???SE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?E?EI?TE?T  EINE?  ??N???????ETIS??EN  </a:t>
            </a: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SUBSTITUTION</a:t>
            </a:r>
            <a:r>
              <a:rPr lang="de-DE" sz="2600" dirty="0">
                <a:solidFill>
                  <a:srgbClr val="0070C0"/>
                </a:solidFill>
              </a:rPr>
              <a:t>  ENT?I??E?N  ??NN,  ?ENN  ?EN??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TE?T  ?????NDEN  IST.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55AFC139-7A1D-11D2-FDDB-51FFF9170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1A76FEC-33C7-D4F2-8EE7-86E04012ED7E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35F9C5B-2BA6-E430-6D23-010F5AE3BB9B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4789C0B-67FC-69B9-4DF2-F0985E3C7E2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5C68AD50-73AF-EAAC-59B1-5ADDCBE3985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BFA73D7C-82C9-CF47-C939-C0E875E1F962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13C1680-3683-1DC0-12D8-E1DBA972D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4E3C569-3B2B-BE7F-F4AB-EB0FF8A982F3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38A37FD-1E33-5CEA-B082-9612179C3220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r>
              <a:rPr lang="de-CH" sz="2400" dirty="0">
                <a:solidFill>
                  <a:srgbClr val="C00000"/>
                </a:solidFill>
              </a:rPr>
              <a:t>,R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U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Y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B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L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O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060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604DF-907B-51DC-5BD3-96AF0A1C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2A994-215B-6147-8C61-B29213A5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23A3791-2F50-9C4D-E33C-E9A7B6A96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39BFC49-D54E-D34B-34F1-FE4D39B2D4E6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B82E1F7-B586-0686-E724-BA002317208A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BEIS?IE!  ?EI?T,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?IT  EINE? ??EU?I??EITS?N???SE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?E?EI?TE?T  EINE?  ??N??????BETIS??EN  SUBSTITUTION  ENT?I??E?N  ??NN,  ?ENN  ?ENU?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TE?T  ?????NDEN  IST.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D3DE2EE4-C869-0E26-2651-390A13241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09B7FB35-7E3F-AF00-6A31-BF693977C7F0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C334A3B-B2F1-1F45-3108-4421F00D4905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A7242566-9C4F-D47D-032E-94C36F8D8D0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CE5442AB-B2B2-CD31-BD5C-BC77B0A5E74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51E49320-6153-FA4C-FFC7-1437BD0B46B1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08A55DB-5D0E-CF8E-FCF3-BC15124A5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FC9051E8-B07F-F13C-186D-A0A4A3148FF8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BA4F77D-3C23-9CAD-D118-2709457E2368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R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U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Y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B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L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O</a:t>
            </a:r>
            <a:r>
              <a:rPr lang="de-CH" sz="2400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6925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39FC2-761E-0E37-D0EC-D8AC7100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ED1F18-D3B8-74A2-1BED-EBE4FC05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A36A115-F86E-8CFC-B228-F085585B1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9D167609-CA00-DF73-56A9-11A197019383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C60E6F90-1D95-6AC2-2C5B-BFDBA14E999D}"/>
              </a:ext>
            </a:extLst>
          </p:cNvPr>
          <p:cNvSpPr txBox="1">
            <a:spLocks/>
          </p:cNvSpPr>
          <p:nvPr/>
        </p:nvSpPr>
        <p:spPr>
          <a:xfrm>
            <a:off x="838200" y="4274911"/>
            <a:ext cx="5913664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BEIS?IE?  ?EI?T,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?IT  EINE? ??EU?I??EITS?N???SE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?E?EI?TE?T  EINE?  </a:t>
            </a: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??N??????BETIS??EN</a:t>
            </a:r>
            <a:r>
              <a:rPr lang="de-DE" sz="2600" dirty="0">
                <a:solidFill>
                  <a:srgbClr val="0070C0"/>
                </a:solidFill>
              </a:rPr>
              <a:t>  SUBSTITUTION  ENT?I??E?N  ??NN,  ?ENN  ?ENU?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TE?T  ?????NDEN  IST.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0C7FB94E-F33A-BF90-7D85-D591786C0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3720FBD9-2709-A077-CE41-3FD2E5692825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0265B9E-3AFD-6393-0030-4507217CFFAC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9EBED03-5D22-EB13-4637-32AB919F4B9F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BDE2434C-5A45-F2CA-93F1-02223CBE2DE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37898EC8-762F-ADFB-C5CC-BCD607DB6534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02E37F7-1B7F-0235-5BFD-FB25AAADC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CE8A1152-5230-4C51-F283-6E201B01976C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02BC3AE-CE4F-B1D2-7988-4946BFEDA907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R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U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Y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B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L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O</a:t>
            </a:r>
            <a:r>
              <a:rPr lang="de-CH" sz="2400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215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5365-AFB5-11B7-6021-1A4D6048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0B56D-3C34-2D81-7D56-06BA2ED7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82B1D7F-020F-DD07-0D7E-0A23C7C1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9879E5B0-1B72-5F07-3875-04CFB426865A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FEEF645-6C15-3D9A-11BB-BE76BBDFE510}"/>
              </a:ext>
            </a:extLst>
          </p:cNvPr>
          <p:cNvSpPr txBox="1">
            <a:spLocks/>
          </p:cNvSpPr>
          <p:nvPr/>
        </p:nvSpPr>
        <p:spPr>
          <a:xfrm>
            <a:off x="838199" y="4274911"/>
            <a:ext cx="6042026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BEIS?IE?  ?EI?T,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?IT  EINE? ??EU?I??EITS?N???SE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?E?EI?TE?T  EINE?  </a:t>
            </a: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MONOALPHABETISCHEN</a:t>
            </a:r>
            <a:r>
              <a:rPr lang="de-DE" sz="2600" dirty="0">
                <a:solidFill>
                  <a:srgbClr val="0070C0"/>
                </a:solidFill>
              </a:rPr>
              <a:t> SUBSTITUTION  ENT?I??E?N  ??NN,  ?ENN  ?ENU?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TE?T  ?????NDEN  IST.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209E90E4-DC33-11CE-773C-FB1E506DE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0EF6AB55-FD24-45C7-9FCC-3FD06D57BD0A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F849DE3-E925-A1AD-301C-90B2C56F13E5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E39AE99-F070-C9F1-1B6C-FE0EC167DC8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E22C7CB5-B848-E484-6675-BA3BBDDFE65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C575C71B-DE0E-B6D1-0C19-D0C0C748CDAE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B1E046E-FFD5-A002-A6FB-D12BCA2EA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6F239F38-2C6F-F499-29FC-40EEF0B7FEAA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900119A-080D-95FC-C39E-3C91C9E0A7B2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R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U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Y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B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L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O</a:t>
            </a:r>
            <a:r>
              <a:rPr lang="de-CH" sz="2400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25040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66260-A6E1-95C7-224A-1E358B6A5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719C21-FEF6-CA9A-6B18-AB67E26D7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B41E90A-136D-7FA9-2541-D7B0CC1CA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54A8B2BD-3D6E-BA02-5113-4636E5162E1E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81BDB613-B0D9-3D0F-1B2A-24B6F9B1E26B}"/>
              </a:ext>
            </a:extLst>
          </p:cNvPr>
          <p:cNvSpPr txBox="1">
            <a:spLocks/>
          </p:cNvSpPr>
          <p:nvPr/>
        </p:nvSpPr>
        <p:spPr>
          <a:xfrm>
            <a:off x="838199" y="4274911"/>
            <a:ext cx="6040800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BEIS?IE?  ?EI?T,  ?IE  ??N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?IT  EINE? ??EU?I??EITS?N???SE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?E?EI?TE?T  EINE?  </a:t>
            </a: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MONOALPHABETISCHEN</a:t>
            </a:r>
            <a:r>
              <a:rPr lang="de-DE" sz="2600" dirty="0">
                <a:solidFill>
                  <a:srgbClr val="0070C0"/>
                </a:solidFill>
              </a:rPr>
              <a:t> SUBSTITUTION  ENT?I??E?N  ??NN,  ?ENN  ?ENU?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TE?T  ?????NDEN  IST.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973519C6-B0B4-A0F6-BBC1-01231F12D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D9F42B19-A1BB-0095-9B93-A903804323F3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DFC10A2-88C2-8BC6-402B-2FF39D8BD5A7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EEB6E85-798C-CC2E-6FF2-24023740AA8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3FC73D3C-531E-E7FE-9145-A42FD5A7A8C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AD2CB195-9555-057B-9865-A7A28E295FE3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86554A0-9CD8-E8CB-BA45-5EBCC97E6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9A84BEEB-2FC8-3AB8-3AA0-8A56F2240A2E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0316717-2AED-0274-DD44-60D774409A13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R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U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Y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B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L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O,…</a:t>
            </a:r>
            <a:endParaRPr lang="de-CH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992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BDA1-BFB8-0B62-2108-2CCA7DC7D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304978-FEB0-2663-F94B-E4E588FF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75F13A3-7CD4-0B8F-1C1F-93A4A050D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96D19795-79EE-6EF8-DF45-C8B9236267BC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0B43645-E087-642A-8F81-7FE79A24509E}"/>
              </a:ext>
            </a:extLst>
          </p:cNvPr>
          <p:cNvSpPr txBox="1">
            <a:spLocks/>
          </p:cNvSpPr>
          <p:nvPr/>
        </p:nvSpPr>
        <p:spPr>
          <a:xfrm>
            <a:off x="838199" y="4274911"/>
            <a:ext cx="6040800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BEISPIEL  ?EI?T,  ?IE  MAN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MIT  EINE? HAEU?I??EITSANAL?SE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?EHEIMTE?T  EINE?  MONOALPHABETISCHEN SUBSTITUTION  ENT?I??E?N  ?ANN,  ?ENN  ?ENU?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TE?T  ?O?HANDEN  IST.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DF16BBC8-1357-D137-1A0B-76419E27F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CCD64441-1527-6731-4623-38B9585EA6B1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D3D3EA3-D41E-ED74-5421-FC8B9112DB76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C16F406-099D-3036-3400-3FE5DC2C1FC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F47D540A-7D30-50A0-BE65-F9506C08FF9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E9BA3A47-3781-EFC7-8482-A2F3035D27A6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49D8232-8608-515B-AAF5-4AE48FE5D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C3BCF6A2-0970-9EE2-8CD4-AE75DEF0B9B6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F5E591E-D625-9861-5862-3ABC7C6A582F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R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U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Y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B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L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O,…</a:t>
            </a:r>
            <a:r>
              <a:rPr lang="de-CH" sz="2400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71710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33A1B-BDFE-D481-D829-56FFAD7D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4A793F-DAF3-3145-38D9-FA1B0EB3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31A4224-4994-2F81-4BD9-7C8406AA9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02CEB8C0-516D-03A0-DEC0-1E3795A6A14E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AFBB027-167A-CABF-A662-C13035D58200}"/>
              </a:ext>
            </a:extLst>
          </p:cNvPr>
          <p:cNvSpPr txBox="1">
            <a:spLocks/>
          </p:cNvSpPr>
          <p:nvPr/>
        </p:nvSpPr>
        <p:spPr>
          <a:xfrm>
            <a:off x="838199" y="4274911"/>
            <a:ext cx="6040800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BEISPIEL  ?EI?T,  ?IE  MAN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MIT  EINE? </a:t>
            </a: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HAEU?I??EITSANAL?SE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?E?EI?TE?T  EINE?  MONOALPHABETISCHEN SUBSTITUTION  ENT?I??E?N  ?ANN,  ?ENN  ?ENU?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TE?T  ?O?HANDEN  IST.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57F54FEA-DECA-2191-18E4-B4FC0F1EE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CC1CFC57-8947-A9B0-090C-D80B4579C33F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5F71F27-4919-9A1B-C672-0BE85B18D539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1528D62-7A63-32E6-5002-BB0FF0C481B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651314F4-8919-1EA4-52F6-1C57B17AAD2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7FEE91BC-B18E-D058-4601-375CA07D3A6B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CE6003A-7A1D-F270-8648-9543C11E6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1434A602-8DBF-61B9-CC83-D10AD882EF3B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B40E3A3-89CE-13DE-C4AB-87B77B8C63CD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R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U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Y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B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L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O,…</a:t>
            </a:r>
            <a:r>
              <a:rPr lang="de-CH" sz="2400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49905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5330D-CD2F-D8E1-7AD6-E5DA143EB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B1DB3C-1248-6738-EE40-F6C0AAED7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55037098-6C85-6209-3127-3E3A38072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A59A3A2-DB22-4DCE-5AE4-76A886B44777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C3899A87-BD7E-E5DC-1383-31A5DBF0AA6B}"/>
              </a:ext>
            </a:extLst>
          </p:cNvPr>
          <p:cNvSpPr txBox="1">
            <a:spLocks/>
          </p:cNvSpPr>
          <p:nvPr/>
        </p:nvSpPr>
        <p:spPr>
          <a:xfrm>
            <a:off x="838199" y="4274911"/>
            <a:ext cx="6040800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BEISPIEL  ?EI?T,  ?IE  MAN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MIT  EINE? </a:t>
            </a:r>
            <a:r>
              <a:rPr lang="de-DE" sz="2600" dirty="0">
                <a:solidFill>
                  <a:srgbClr val="0070C0"/>
                </a:solidFill>
                <a:highlight>
                  <a:srgbClr val="FFFF00"/>
                </a:highlight>
              </a:rPr>
              <a:t>HAEUFIGKEITSANALYSE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?EHEIMTE?T  EINE?  MONOALPHABETISCHEN SUBSTITUTION  ENT?I??E?N  ?ANN,  ?ENN  ?ENU?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TE?T  ?O?HANDEN  IST.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E1800AB6-3522-0841-87B9-3FDF1B84E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3D294776-6951-1E35-FF5A-0497AF50F48F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290F7F5-9E7E-17DC-19BE-FB249AF359DA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9E380A7-6C19-6BB8-343A-E47ADF32A24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2389AF75-F3DD-A286-92D3-C49F7D863A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1E494DA7-9BCD-8B0A-08DC-D02FEAE8EE0B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6B01FF8-3D55-1340-9550-537A34946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88FD65DC-3A52-0580-8FCF-F5B7A7F21909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BBBD15C-F799-F181-38C6-A64B34190230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R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U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Y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B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L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O,…</a:t>
            </a:r>
            <a:r>
              <a:rPr lang="de-CH" sz="2400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38465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8775-A1FA-4F0F-253C-4582F323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681C51-4878-5E05-1DE6-841950A0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DE68179-1E9A-CDD8-D610-F65A9DDD7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110121AA-A9EC-592B-B969-3EDAA2C5C538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39038D1-2DFA-D548-E2AC-AE498CAF5FB3}"/>
              </a:ext>
            </a:extLst>
          </p:cNvPr>
          <p:cNvSpPr txBox="1">
            <a:spLocks/>
          </p:cNvSpPr>
          <p:nvPr/>
        </p:nvSpPr>
        <p:spPr>
          <a:xfrm>
            <a:off x="838199" y="4274911"/>
            <a:ext cx="6040800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BEISPIEL  ?EIGT,  ?IE  MAN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MIT  EINE? HAEUFIGKEITSANALYSE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GEHEIMTE?T  EINE?  MONOALPHABETISCHEN SUBSTITUTION  ENT?I??E?N  KANN,  ?ENN  GENUG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TE?T  ?O?HANDEN  IST.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CD971015-6EEB-1C77-93AF-16B6855CE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F353F005-5DDC-33B4-41C8-26FF5D93BEFC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4E27AD7-F277-35FB-51AF-CA473335D6B7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2776FEA-1938-2E51-F534-B471839EF0B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6708B24F-73B1-18C0-8434-E11BCD4A5CE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8E36179C-FA58-0D9D-9630-791A3BAACF61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5A3FDA9-3A66-7AB8-D89D-515F0FC06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0D82FC69-B7D4-5576-C6A4-47E1AF938B7E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4E75AD8-F899-07E8-15EE-613E6000F45E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R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U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Y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B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L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O,…</a:t>
            </a:r>
            <a:r>
              <a:rPr lang="de-CH" sz="2400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56335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B8C2C-DAA2-554A-DBDA-4B5173756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6A0B9A-A3BC-D07F-163C-EEF18AE96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Häufigkeitsanalyse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191E330-59D5-8C0A-AE1E-6C8F541F0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72" y="0"/>
            <a:ext cx="2748556" cy="6858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9D53959-C64C-0136-764B-117D87DF3913}"/>
              </a:ext>
            </a:extLst>
          </p:cNvPr>
          <p:cNvSpPr txBox="1">
            <a:spLocks/>
          </p:cNvSpPr>
          <p:nvPr/>
        </p:nvSpPr>
        <p:spPr>
          <a:xfrm>
            <a:off x="838199" y="1502909"/>
            <a:ext cx="5913664" cy="228917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AFBPBP  YBFPMFBI  WBFDQ,  TFB  JXK  JFQ BFKBO  EXBRCFDHBFQPXKXIVPB  ABK DBEBFJQBUQ  BFKBO  JLKLXIMEXYBQFPZEBK PRYPQFQRQFLK  BKQWFCCBOK  HXKK,  TBKK DBKRD  QBUQ  SLOEXKABK FPQ.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95FE8AC2-44B0-8FCA-A4A9-6942E0455EB5}"/>
              </a:ext>
            </a:extLst>
          </p:cNvPr>
          <p:cNvSpPr txBox="1">
            <a:spLocks/>
          </p:cNvSpPr>
          <p:nvPr/>
        </p:nvSpPr>
        <p:spPr>
          <a:xfrm>
            <a:off x="838199" y="4274911"/>
            <a:ext cx="6040800" cy="237898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600" dirty="0">
                <a:solidFill>
                  <a:srgbClr val="0070C0"/>
                </a:solidFill>
              </a:rPr>
              <a:t>DIESES  BEISPIEL  ZEIGT,  WIE  MAN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MIT  EINER HAEUFIGKEITSANALYSE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DEN  GEHEIMTEXT  EINER  MONOALPHABETISCHEN SUBSTITUTION  ENTZIFFERN  KANN,  WENN  GENUG  </a:t>
            </a:r>
            <a:br>
              <a:rPr lang="de-DE" sz="2600" dirty="0">
                <a:solidFill>
                  <a:srgbClr val="0070C0"/>
                </a:solidFill>
              </a:rPr>
            </a:br>
            <a:r>
              <a:rPr lang="de-DE" sz="2600" dirty="0">
                <a:solidFill>
                  <a:srgbClr val="0070C0"/>
                </a:solidFill>
              </a:rPr>
              <a:t>TEXT  VORHANDEN  IST.</a:t>
            </a:r>
            <a:endParaRPr lang="de-DE" sz="2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4D8597A6-865F-4971-D4C7-0CC77D4D4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981" y="1502910"/>
            <a:ext cx="2286171" cy="515098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3E88FB71-4E71-BCF7-7149-00BE18F1C0CA}"/>
              </a:ext>
            </a:extLst>
          </p:cNvPr>
          <p:cNvSpPr/>
          <p:nvPr/>
        </p:nvSpPr>
        <p:spPr>
          <a:xfrm>
            <a:off x="277586" y="1502908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D3B4A75-2C11-28AC-A723-1698AAB722F8}"/>
              </a:ext>
            </a:extLst>
          </p:cNvPr>
          <p:cNvSpPr txBox="1"/>
          <p:nvPr/>
        </p:nvSpPr>
        <p:spPr>
          <a:xfrm>
            <a:off x="3396342" y="92920"/>
            <a:ext cx="482509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deutschen Texten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947C533-E2DF-9462-A0DA-A4CD0915887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8221435" y="292975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79DD18FA-F31D-232F-6049-25EDA179F2D2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4548" y="-626609"/>
            <a:ext cx="1" cy="4259036"/>
          </a:xfrm>
          <a:prstGeom prst="curvedConnector3">
            <a:avLst>
              <a:gd name="adj1" fmla="val -22860000000"/>
            </a:avLst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1EFA5DD1-DEC7-F820-C113-C886722642AE}"/>
              </a:ext>
            </a:extLst>
          </p:cNvPr>
          <p:cNvSpPr/>
          <p:nvPr/>
        </p:nvSpPr>
        <p:spPr>
          <a:xfrm>
            <a:off x="5368103" y="1011123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8AE246F-5DAF-4CEB-CEA0-51E260BA1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" y="3856490"/>
            <a:ext cx="792485" cy="351367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E447BA94-2AED-8FEB-E1FC-08E750AA0B8A}"/>
              </a:ext>
            </a:extLst>
          </p:cNvPr>
          <p:cNvSpPr/>
          <p:nvPr/>
        </p:nvSpPr>
        <p:spPr>
          <a:xfrm>
            <a:off x="277586" y="4387624"/>
            <a:ext cx="401493" cy="193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0070C0"/>
                </a:solidFill>
              </a:rPr>
              <a:t>KLARTEXT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8C6F136-1239-5F46-7AFD-F9BD3B516981}"/>
              </a:ext>
            </a:extLst>
          </p:cNvPr>
          <p:cNvSpPr/>
          <p:nvPr/>
        </p:nvSpPr>
        <p:spPr>
          <a:xfrm>
            <a:off x="838199" y="3860800"/>
            <a:ext cx="5913664" cy="35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2400" dirty="0">
                <a:solidFill>
                  <a:srgbClr val="C00000"/>
                </a:solidFill>
              </a:rPr>
              <a:t>B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E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K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N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F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I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P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S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A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D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Q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T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R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U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Y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B</a:t>
            </a:r>
            <a:r>
              <a:rPr lang="de-CH" sz="2400" dirty="0">
                <a:solidFill>
                  <a:schemeClr val="accent1"/>
                </a:solidFill>
              </a:rPr>
              <a:t>,</a:t>
            </a:r>
            <a:r>
              <a:rPr lang="de-CH" sz="2400" dirty="0">
                <a:solidFill>
                  <a:srgbClr val="C00000"/>
                </a:solidFill>
              </a:rPr>
              <a:t>L</a:t>
            </a:r>
            <a:r>
              <a:rPr lang="de-CH" sz="2400" dirty="0">
                <a:solidFill>
                  <a:schemeClr val="tx1"/>
                </a:solidFill>
              </a:rPr>
              <a:t>=</a:t>
            </a:r>
            <a:r>
              <a:rPr lang="de-CH" sz="2400" dirty="0">
                <a:solidFill>
                  <a:srgbClr val="0070C0"/>
                </a:solidFill>
              </a:rPr>
              <a:t>O,…</a:t>
            </a:r>
            <a:r>
              <a:rPr lang="de-CH" sz="2400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50823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456F9-9A6D-A21E-BED6-74D1D95B1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FAE004-1AF7-9E10-9F22-BB9ECD51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Auftrag: Häufigkeitsanalyse</a:t>
            </a:r>
          </a:p>
        </p:txBody>
      </p:sp>
      <p:pic>
        <p:nvPicPr>
          <p:cNvPr id="6" name="Grafik 5" descr="Stoppuhr mit einfarbiger Füllung">
            <a:extLst>
              <a:ext uri="{FF2B5EF4-FFF2-40B4-BE49-F238E27FC236}">
                <a16:creationId xmlns:a16="http://schemas.microsoft.com/office/drawing/2014/main" id="{9E839AC3-E02D-134D-098D-842CB8107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866" y="570706"/>
            <a:ext cx="914400" cy="9144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A7E1E77-FB40-E030-3A9E-797C63DDC817}"/>
              </a:ext>
            </a:extLst>
          </p:cNvPr>
          <p:cNvSpPr txBox="1"/>
          <p:nvPr/>
        </p:nvSpPr>
        <p:spPr>
          <a:xfrm>
            <a:off x="8126414" y="673963"/>
            <a:ext cx="2426001" cy="707886"/>
          </a:xfrm>
          <a:prstGeom prst="rect">
            <a:avLst/>
          </a:prstGeom>
          <a:noFill/>
          <a:ln w="317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sz="2000" b="1" dirty="0"/>
              <a:t>10 Minuten</a:t>
            </a:r>
          </a:p>
          <a:p>
            <a:r>
              <a:rPr lang="de-CH" sz="2000" b="1" dirty="0"/>
              <a:t>Einzel oder Partner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2EDA1B4-E364-FB3E-370E-680739AFD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708" y="141891"/>
            <a:ext cx="1084254" cy="652137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102063E-4A7A-B9C2-8E38-00504DF9AB81}"/>
              </a:ext>
            </a:extLst>
          </p:cNvPr>
          <p:cNvSpPr txBox="1"/>
          <p:nvPr/>
        </p:nvSpPr>
        <p:spPr>
          <a:xfrm>
            <a:off x="4846738" y="74382"/>
            <a:ext cx="4923066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e-CH" sz="2000" dirty="0"/>
              <a:t>Buchstabenhäufigkeit in </a:t>
            </a:r>
            <a:r>
              <a:rPr lang="de-CH" sz="2000" b="1" dirty="0"/>
              <a:t>englischen</a:t>
            </a:r>
            <a:r>
              <a:rPr lang="de-CH" sz="2000" dirty="0"/>
              <a:t> Texten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83892B0-18A7-8105-9EBE-E3D858821DFD}"/>
              </a:ext>
            </a:extLst>
          </p:cNvPr>
          <p:cNvSpPr/>
          <p:nvPr/>
        </p:nvSpPr>
        <p:spPr>
          <a:xfrm>
            <a:off x="1517469" y="1981431"/>
            <a:ext cx="5909733" cy="448839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rgbClr val="C00000"/>
                </a:solidFill>
              </a:rPr>
              <a:t>EOBLMT EJNEYOYJYOPW VZW NT VIZVSTC OQ EPBTPWT EYJCOTE YDT MTYYTI LZYYTIWE VZITQJMMG, NTVZJET YDT QITUJTWVG PQ MTYYTIE ZWC VPBBPW VPBNOWZYOPWE PQ MTYYTIE HOKTE ZFZG VMJTE ZNPJY YDT PIOHOWZM BTEEZHT. </a:t>
            </a:r>
            <a:br>
              <a:rPr lang="en-GB" sz="2400" dirty="0">
                <a:solidFill>
                  <a:srgbClr val="C00000"/>
                </a:solidFill>
              </a:rPr>
            </a:br>
            <a:r>
              <a:rPr lang="en-GB" sz="2400" dirty="0">
                <a:solidFill>
                  <a:srgbClr val="C00000"/>
                </a:solidFill>
              </a:rPr>
              <a:t>QPI YDOE ITZEPW, EYIPWHTI BTYDPCE JET BJMYOLMT EDOQYOWH ZMLDZNTYE YP BZST OY BJVD DZICTI YP CTYTVY LZYYTIWE ZWC NITZS YDT VOLDTI.</a:t>
            </a:r>
            <a:endParaRPr lang="de-CH" sz="2400" dirty="0">
              <a:solidFill>
                <a:srgbClr val="C00000"/>
              </a:solidFill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23AB131-5875-9716-1332-74D0D35E0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0254" y="1569261"/>
            <a:ext cx="2298516" cy="5094006"/>
          </a:xfrm>
          <a:prstGeom prst="rect">
            <a:avLst/>
          </a:prstGeom>
        </p:spPr>
      </p:pic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6C32234-0AC1-AC67-9AC9-845D2CA93F50}"/>
              </a:ext>
            </a:extLst>
          </p:cNvPr>
          <p:cNvCxnSpPr>
            <a:cxnSpLocks/>
          </p:cNvCxnSpPr>
          <p:nvPr/>
        </p:nvCxnSpPr>
        <p:spPr>
          <a:xfrm>
            <a:off x="9778271" y="274437"/>
            <a:ext cx="1187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F2D77FCF-9493-811D-307A-441D55A04C53}"/>
              </a:ext>
            </a:extLst>
          </p:cNvPr>
          <p:cNvSpPr/>
          <p:nvPr/>
        </p:nvSpPr>
        <p:spPr>
          <a:xfrm>
            <a:off x="5546460" y="1462088"/>
            <a:ext cx="138376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solidFill>
                  <a:srgbClr val="C00000"/>
                </a:solidFill>
              </a:rPr>
              <a:t>zählen</a:t>
            </a:r>
            <a:endParaRPr lang="de-CH" dirty="0">
              <a:solidFill>
                <a:srgbClr val="C00000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265A57F-C098-4124-6484-B50A5E6A8F12}"/>
              </a:ext>
            </a:extLst>
          </p:cNvPr>
          <p:cNvSpPr/>
          <p:nvPr/>
        </p:nvSpPr>
        <p:spPr>
          <a:xfrm>
            <a:off x="883670" y="3081042"/>
            <a:ext cx="401493" cy="2289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CH" sz="2800" dirty="0">
                <a:solidFill>
                  <a:srgbClr val="C00000"/>
                </a:solidFill>
              </a:rPr>
              <a:t>GEHEIMTEXT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86DFD74A-23DB-1C28-F50C-1EF8B7EB3BD1}"/>
              </a:ext>
            </a:extLst>
          </p:cNvPr>
          <p:cNvCxnSpPr>
            <a:stCxn id="15" idx="0"/>
          </p:cNvCxnSpPr>
          <p:nvPr/>
        </p:nvCxnSpPr>
        <p:spPr>
          <a:xfrm flipV="1">
            <a:off x="4472336" y="1690688"/>
            <a:ext cx="3387918" cy="29074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5793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F9B863-EA79-6677-031C-5AB497AD2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31" y="765621"/>
            <a:ext cx="4848213" cy="10744683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B9D25898-2BAE-90E8-7FA3-13B2E60EA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41" y="1095404"/>
            <a:ext cx="2833243" cy="1704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560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0E4ED-E4A4-1E3B-2C00-BF95CAAA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Have</a:t>
            </a:r>
            <a:r>
              <a:rPr lang="de-CH" dirty="0"/>
              <a:t> a nice </a:t>
            </a:r>
            <a:r>
              <a:rPr lang="de-CH" dirty="0" err="1"/>
              <a:t>day</a:t>
            </a:r>
            <a:r>
              <a:rPr lang="de-CH" dirty="0"/>
              <a:t> </a:t>
            </a:r>
            <a:r>
              <a:rPr lang="de-CH" dirty="0">
                <a:sym typeface="Wingdings" panose="05000000000000000000" pitchFamily="2" charset="2"/>
              </a:rPr>
              <a:t>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51115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5346</Words>
  <Application>Microsoft Macintosh PowerPoint</Application>
  <PresentationFormat>Breitbild</PresentationFormat>
  <Paragraphs>712</Paragraphs>
  <Slides>63</Slides>
  <Notes>9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63</vt:i4>
      </vt:variant>
    </vt:vector>
  </HeadingPairs>
  <TitlesOfParts>
    <vt:vector size="70" baseType="lpstr">
      <vt:lpstr>Aptos</vt:lpstr>
      <vt:lpstr>Aptos Display</vt:lpstr>
      <vt:lpstr>Aptos Narrow</vt:lpstr>
      <vt:lpstr>Arial</vt:lpstr>
      <vt:lpstr>Cambria Math</vt:lpstr>
      <vt:lpstr>Wingdings</vt:lpstr>
      <vt:lpstr>Office</vt:lpstr>
      <vt:lpstr>PowerPoint-Präsentation</vt:lpstr>
      <vt:lpstr>Robin Bosshard</vt:lpstr>
      <vt:lpstr>PowerPoint-Präsentation</vt:lpstr>
      <vt:lpstr>Verschlüsselung im Alltag</vt:lpstr>
      <vt:lpstr>Verschlüsselung im Alltag</vt:lpstr>
      <vt:lpstr>Verschlüsselung im Alltag</vt:lpstr>
      <vt:lpstr>PowerPoint-Präsentation</vt:lpstr>
      <vt:lpstr>Kryptographie? (kurze Antwort)</vt:lpstr>
      <vt:lpstr>Kryptographie? (lange Antwort)</vt:lpstr>
      <vt:lpstr>Terminologie</vt:lpstr>
      <vt:lpstr>Grundprinzip: (sichere) Verschlüsselung</vt:lpstr>
      <vt:lpstr>Grundprinzip</vt:lpstr>
      <vt:lpstr>Heute (Ausblick)</vt:lpstr>
      <vt:lpstr>Transposition </vt:lpstr>
      <vt:lpstr>Transpositionsverschlüsselung Arbeitsblatt: Skytale</vt:lpstr>
      <vt:lpstr>PowerPoint-Präsentation</vt:lpstr>
      <vt:lpstr>PowerPoint-Präsentation</vt:lpstr>
      <vt:lpstr>Transposition</vt:lpstr>
      <vt:lpstr>Spaltentransposition + Permutation</vt:lpstr>
      <vt:lpstr>Lernziele</vt:lpstr>
      <vt:lpstr>Heute (Ausblick)</vt:lpstr>
      <vt:lpstr>Monoalphabetische Substitution</vt:lpstr>
      <vt:lpstr>Auftrag: Ceasar-Verschlüsselung</vt:lpstr>
      <vt:lpstr>Online Tool: Digitale Ceasar Scheibe</vt:lpstr>
      <vt:lpstr>Auftrag: Ceasar-Entschlüsselung</vt:lpstr>
      <vt:lpstr>Schwachstellen der Ceasar-Verschlüsselung</vt:lpstr>
      <vt:lpstr>Monoalphabetische Substitution</vt:lpstr>
      <vt:lpstr>Zufällige monoalphabetische Substitution</vt:lpstr>
      <vt:lpstr>Zufällige monoalphabetische Substitution</vt:lpstr>
      <vt:lpstr>Monoalphabetische Substitution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Häufigkeitsanalyse</vt:lpstr>
      <vt:lpstr>Auftrag: Häufigkeitsanalyse</vt:lpstr>
      <vt:lpstr>PowerPoint-Präsentation</vt:lpstr>
      <vt:lpstr>Have a nice day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Bosshard</dc:creator>
  <cp:lastModifiedBy>Bosshard, Robin</cp:lastModifiedBy>
  <cp:revision>63</cp:revision>
  <dcterms:created xsi:type="dcterms:W3CDTF">2025-10-14T17:55:13Z</dcterms:created>
  <dcterms:modified xsi:type="dcterms:W3CDTF">2025-10-29T21:47:35Z</dcterms:modified>
</cp:coreProperties>
</file>